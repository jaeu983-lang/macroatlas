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731520"/>
            <a:ext cx="109728" cy="53035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143000"/>
            <a:ext cx="9875520" cy="8229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Malgun Gothic"/>
              </a:rPr>
              <a:t>MacroAtlas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29968"/>
            <a:ext cx="8961120" cy="5943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800" b="1">
                <a:solidFill>
                  <a:srgbClr val="B8D3DE"/>
                </a:solidFill>
                <a:latin typeface="Malgun Gothic"/>
              </a:rPr>
              <a:t>사용자 안내서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71800"/>
            <a:ext cx="9418320" cy="50292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Malgun Gothic"/>
              </a:rPr>
              <a:t>공식 출처 · 원본 보존 · 제한 범위 수집과 검토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50992"/>
            <a:ext cx="7315200" cy="32004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300" b="0">
                <a:solidFill>
                  <a:srgbClr val="B8D3DE"/>
                </a:solidFill>
                <a:latin typeface="Malgun Gothic"/>
              </a:rPr>
              <a:t>2026-10-26  |  현재 지원 범위·17회차 시험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현재 지원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지원 범위  ·  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14300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143000"/>
            <a:ext cx="73152" cy="182880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25272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고정 경로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70078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World Bank USA GDP, BOJ FM08/FXERD01 한 달, TIC/BIS exact-scope file watch를 제공합니다.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14300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143000"/>
            <a:ext cx="73152" cy="182880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25272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연결 부품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70078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제한된 BLS/Census Python API, 명시 파일 parser, task·feedback 이력과 읽기 전용 pattern 분석이 있습니다.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24612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246120"/>
            <a:ext cx="73152" cy="182880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35584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아직 미제공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380390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일반 자연어·기관 전체 검색, 정식 대용량 정규화, CSV/XLSX exporter, 제품 자체 스케줄러는 없습니다.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246120"/>
            <a:ext cx="539496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246120"/>
            <a:ext cx="73152" cy="182880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35584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증거 경계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803904"/>
            <a:ext cx="4956048" cy="117043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600" b="0">
                <a:solidFill>
                  <a:srgbClr val="273448"/>
                </a:solidFill>
                <a:latin typeface="Malgun Gothic"/>
              </a:rPr>
              <a:t>TIC/BIS 자연 개정과 자연 provider 실패 후 같은 task 재개는 미관측입니다. 제한 경로 성공을 전체 지원으로 넓히지 않습니다.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안전한 수집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요청부터 검증까지  ·  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요청 범위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기관·지표·국가·기간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39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62072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862072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81528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근거와 선택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정의와 후보를 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21224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21224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40680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명시 수집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고정 경로·호출 한도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0952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24344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0376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80376" y="2057400"/>
            <a:ext cx="73152" cy="19659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9832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보존·검증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9832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raw, manifest, hash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0104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17817B"/>
                </a:solidFill>
                <a:latin typeface="Malgun Gothic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83496" y="2697480"/>
            <a:ext cx="22860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200" b="1">
                <a:solidFill>
                  <a:srgbClr val="5E6E83"/>
                </a:solidFill>
                <a:latin typeface="Malgun Gothic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39528" y="2057400"/>
            <a:ext cx="2084831" cy="1965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939528" y="2057400"/>
            <a:ext cx="73152" cy="196596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58984" y="2167128"/>
            <a:ext cx="1673351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검토·기록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58984" y="2615184"/>
            <a:ext cx="1645919" cy="13075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불확실성은 유지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9256" y="1399032"/>
            <a:ext cx="1874519" cy="4114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2300" b="1">
                <a:solidFill>
                  <a:srgbClr val="E17C43"/>
                </a:solidFill>
                <a:latin typeface="Malgun Gothic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709160"/>
            <a:ext cx="10607040" cy="566928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900" b="1">
                <a:solidFill>
                  <a:srgbClr val="14223B"/>
                </a:solidFill>
                <a:latin typeface="Malgun Gothic"/>
              </a:rPr>
              <a:t>불확실한 후보·정의·권한은 확인 전 자동 수집하지 않습니다.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고정 경로 실행과 task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실제 요청은 --live  ·  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325880"/>
            <a:ext cx="10789920" cy="96012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08760"/>
            <a:ext cx="10241280" cy="50292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onsolas"/>
              </a:rPr>
              <a:t>macroatlas collect worldbank-gdp --start-year 2020 --end-year 2022 --live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84378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69748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이 범위는 USA · WDI source 2 · NY.GDP.MKTP.CD만 수집합니다. BOJ는 FM08/FXERD01 한 달만 지원합니다.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66674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52044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요청은 네트워크 전에 task로 저장됩니다. 출력의 TASK_ID로 상태와 저장 경로를 확인하세요.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48970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343400"/>
            <a:ext cx="10021824" cy="59436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재개는 같은 task ID를 사용합니다. Retry-After와 attempt 예산을 지키며 자동 재시도는 하지 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349240"/>
            <a:ext cx="10241280" cy="45720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400" b="0">
                <a:solidFill>
                  <a:srgbClr val="5E6E83"/>
                </a:solidFill>
                <a:latin typeface="Malgun Gothic"/>
              </a:rPr>
              <a:t>TIC/BIS watch도 각각 한 번의 명시적 live 요청입니다. 임의 URL이나 기관은 입력할 수 없습니다.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결과·원본·이력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task에 연결된 provenance  ·  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73152" cy="1874519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원본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8366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data/raw/&lt;source&gt;/&lt;package-id&gt;/ 아래 raw와 request manifest
원본 hash·범위·수집 시각을 보존합니다.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325880"/>
            <a:ext cx="73152" cy="1874519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이력과 검사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88366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data/catalog.sqlite
Task, stage, attempt/event와 검증 상태를 보관합니다.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52044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520440"/>
            <a:ext cx="73152" cy="1874519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63016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실행 요약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407822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CLI JSON 요약
TASK_ID, 상태, 경고, artifact 저장 경로를 확인합니다.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520440"/>
            <a:ext cx="5394960" cy="187451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520440"/>
            <a:ext cx="73152" cy="1874519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63016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자료 의미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4078224"/>
            <a:ext cx="4956048" cy="1216151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0과 null은 다릅니다. 모르는 단위·주기를 추정하지 않으며 범용 CSV/XLSX 전달은 아직 없습니다.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API 키와 네트워크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현재 지원 범위  ·  06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73152" cy="15087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키 불필요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World Bank의 이 고정 WDI query는 공개 API를 사용합니다.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25112" y="1234440"/>
            <a:ext cx="73152" cy="150876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선택적 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BLS_API_KEY는 일반 series-data 조회에서 선택 사항입니다. 일부 catalogue path는 등록 키가 필요합니다.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1234440"/>
            <a:ext cx="3520440" cy="15087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1234440"/>
            <a:ext cx="73152" cy="150876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6176" y="1344168"/>
            <a:ext cx="310896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필수 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6176" y="1792224"/>
            <a:ext cx="3081528" cy="85039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CENSUS_API_KEY는 지원된 ACS query 경로에서 필요합니다.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8680" y="34838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8136" y="33375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필요한 기관의 키만 승인된 secret manager 또는 환경변수로 전달하세요. 실제 키를 문서·Git·채팅에 넣지 않습니다.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3982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8136" y="42519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프로젝트는 .env를 자동으로 읽지 않습니다. key가 설정되어 있다는 사실만으로 인증 성공을 판단하지 않습니다.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531266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5166360"/>
            <a:ext cx="10113264" cy="68580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외부 요청은 설정된 프록시와 CA 신뢰를 사용하고 TLS 검증을 유지합니다. 프록시 우회나 인증 우회는 하지 않습니다.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오류를 안전하게 다루기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현재 지원 범위  ·  07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32588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325880"/>
            <a:ext cx="73152" cy="164592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FAILED_RETRYABLE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816" y="188366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같은 task와 범위를 확인합니다. Retry-After가 있으면 대기 후 명시적 resume. 자동 재시도 없음.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9632" y="132588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9632" y="1325880"/>
            <a:ext cx="73152" cy="164592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19088" y="1435607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NEEDS_REVIEW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88366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권한·schema·의미·품질을 먼저 검토합니다. 검토를 건너뛰어 강제 resume하지 않습니다.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33756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337560"/>
            <a:ext cx="73152" cy="16459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" y="344728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변경된 원본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" y="389534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양쪽 raw를 보존합니다. 같은 scope에서 changed/NEEDS_REVIEW면 승인 전 normalized 출력이 차단됩니다.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9632" y="3337560"/>
            <a:ext cx="5394960" cy="164592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9632" y="3337560"/>
            <a:ext cx="73152" cy="164592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19088" y="3447288"/>
            <a:ext cx="49834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손상 방지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3895344"/>
            <a:ext cx="4956048" cy="987552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500" b="0">
                <a:solidFill>
                  <a:srgbClr val="273448"/>
                </a:solidFill>
                <a:latin typeface="Malgun Gothic"/>
              </a:rPr>
              <a:t>같은 task에서 이력을 이어갑니다. fixture 검증과 자연 발생 provider 실패 증거는 별개입니다.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피드백과 검토용 제안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현재 지원 범위  ·  08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10789920" cy="68580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99032"/>
            <a:ext cx="10241280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onsolas"/>
              </a:rPr>
              <a:t>python -m macro_data_platform.feedback_cli --project-root . --help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240280"/>
            <a:ext cx="10789920" cy="685800"/>
          </a:xfrm>
          <a:prstGeom prst="round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404872"/>
            <a:ext cx="10241280" cy="34747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onsolas"/>
              </a:rPr>
              <a:t>python -m macro_data_platform.pattern_cli --project-root 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48386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3337560"/>
            <a:ext cx="10021824" cy="5029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피드백은 기존 task에 연결되고 새 레코드는 자동 승인되지 않습니다.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21538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069080"/>
            <a:ext cx="10021824" cy="65836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분석 결과는 draft 검토 후보입니다. 코드 수정·승인·자동 적용을 하지 않으며 반복 근거가 없으면 후보를 만들지 않습니다.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512978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983480"/>
            <a:ext cx="10021824" cy="54864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다른 task 3개 미만, 범위 불일치, 미검토 피드백은 같은 반복 후보로 합치지 않습니다.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기관 시나리오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기관별로 확인된 좁은 범위  ·  09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143000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43000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252728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A IMF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1700784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live SDMX/dataflow 미지원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1344168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143000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72200" y="1143000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1656" y="1252728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B BIS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700784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bulk file intake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31552" y="1344168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31343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313432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2423160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C 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2871216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명시 파일·통제 변경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2514600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313432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2313432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91656" y="2423160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D BEA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91656" y="2871216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connector 미지원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1552" y="2514600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3483864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483864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" y="3593592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E ECB/Eurostat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" y="4041648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end-to-end 미지원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99432" y="3685032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3483864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72200" y="3483864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91656" y="3593592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F Japan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91656" y="4041648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BOJ FXERD01 한 달 collector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31552" y="3685032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654296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" y="4654296"/>
            <a:ext cx="73152" cy="932688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9536" y="4764024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G China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" y="5212080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미지원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99432" y="4855464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E17C43"/>
                </a:solidFill>
                <a:latin typeface="Malgun Gothic"/>
              </a:rPr>
              <a:t>BLOCKED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172200" y="4654296"/>
            <a:ext cx="3794760" cy="93268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72200" y="4654296"/>
            <a:ext cx="73152" cy="932688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4764024"/>
            <a:ext cx="3383280" cy="384048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4223B"/>
                </a:solidFill>
                <a:latin typeface="Malgun Gothic"/>
              </a:rPr>
              <a:t>H World Bank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91656" y="5212080"/>
            <a:ext cx="3355848" cy="2743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300" b="0">
                <a:solidFill>
                  <a:srgbClr val="273448"/>
                </a:solidFill>
                <a:latin typeface="Malgun Gothic"/>
              </a:rPr>
              <a:t>고정 USA GDP 경로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31552" y="4855464"/>
            <a:ext cx="132588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1">
                <a:solidFill>
                  <a:srgbClr val="17817B"/>
                </a:solidFill>
                <a:latin typeface="Malgun Gothic"/>
              </a:rPr>
              <a:t>PARTIAL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" y="5989320"/>
            <a:ext cx="10332720" cy="310896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300" b="0">
                <a:solidFill>
                  <a:srgbClr val="5E6E83"/>
                </a:solidFill>
                <a:latin typeface="Malgun Gothic"/>
              </a:rPr>
              <a:t>PARTIAL은 확인된 경로만 뜻합니다. 기관 전체 상태나 일반 지원을 의미하지 않습니다.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04672"/>
          </a:xfrm>
          <a:prstGeom prst="rect">
            <a:avLst/>
          </a:prstGeom>
          <a:solidFill>
            <a:srgbClr val="142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0698480" cy="530352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Malgun Gothic"/>
              </a:rPr>
              <a:t>현재 경계와 다음 투자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10528"/>
            <a:ext cx="9144000" cy="18288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l"/>
            <a:r>
              <a:rPr sz="900" b="0">
                <a:solidFill>
                  <a:srgbClr val="5E6E83"/>
                </a:solidFill>
                <a:latin typeface="Malgun Gothic"/>
              </a:rPr>
              <a:t>MACROATLAS  ·  증거 범위를 지킵니다  · 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11109960" y="6528816"/>
            <a:ext cx="512064" cy="54864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426463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28016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Gate A/D 통과, B/C/E 제한 범위 판정입니다. 현재 범위와 증거는 docs/IMPLEMENTATION_PLAN.md를 확인하세요.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86584"/>
            <a:ext cx="91440" cy="91440"/>
          </a:xfrm>
          <a:prstGeom prst="rect">
            <a:avLst/>
          </a:prstGeom>
          <a:solidFill>
            <a:srgbClr val="E17C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24028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자연 TIC/BIS source revision 및 자연 provider failure → 같은 task 재개는 아직 관측되지 않았습니다.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4670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200400"/>
            <a:ext cx="10296144" cy="64008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대용량 trial 통과는 production 정규화 승인이 아닙니다. BIS 정식 handoff와 CSV exporter는 후속 작업입니다.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06824"/>
            <a:ext cx="91440" cy="91440"/>
          </a:xfrm>
          <a:prstGeom prst="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4160520"/>
            <a:ext cx="10296144" cy="731520"/>
          </a:xfrm>
          <a:prstGeom prst="rect">
            <a:avLst/>
          </a:prstGeom>
          <a:noFill/>
        </p:spPr>
        <p:txBody>
          <a:bodyPr wrap="square" lIns="54864" rIns="54864" tIns="18288" bIns="18288" anchor="t">
            <a:spAutoFit/>
          </a:bodyPr>
          <a:lstStyle/>
          <a:p>
            <a:pPr algn="l"/>
            <a:r>
              <a:rPr sz="1700" b="0">
                <a:solidFill>
                  <a:srgbClr val="273448"/>
                </a:solidFill>
                <a:latin typeface="Malgun Gothic"/>
              </a:rPr>
              <a:t>다음 순서: PR 통합 검토 → 재현 가능한 QA 경로 → BIS 대용량 handoff → 검증된 CSV 전달.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257800"/>
            <a:ext cx="10515600" cy="658368"/>
          </a:xfrm>
          <a:prstGeom prst="roundRect">
            <a:avLst/>
          </a:prstGeom>
          <a:solidFill>
            <a:srgbClr val="1781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5394960"/>
            <a:ext cx="10149840" cy="365760"/>
          </a:xfrm>
          <a:prstGeom prst="rect">
            <a:avLst/>
          </a:prstGeom>
          <a:noFill/>
        </p:spPr>
        <p:txBody>
          <a:bodyPr wrap="square" lIns="54864" rIns="54864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Malgun Gothic"/>
              </a:rPr>
              <a:t>일반 검색·추가 기관·자동 merge/publish는 별도 검토 대상입니다. 자연 증거는 인위적으로 만들지 않습니다.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