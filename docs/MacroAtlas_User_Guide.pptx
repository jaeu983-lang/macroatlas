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31520"/>
            <a:ext cx="109728" cy="530352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43000"/>
            <a:ext cx="9875520" cy="8229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MacroAtlas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29968"/>
            <a:ext cx="8961120" cy="5943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B8D3DE"/>
                </a:solidFill>
                <a:latin typeface="Malgun Gothic"/>
              </a:rPr>
              <a:t>사용자 안내서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71800"/>
            <a:ext cx="9418320" cy="5029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공식 출처 · 원본 보존 · 제한 범위 수집과 검토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50992"/>
            <a:ext cx="7315200" cy="3200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B8D3DE"/>
                </a:solidFill>
                <a:latin typeface="Malgun Gothic"/>
              </a:rPr>
              <a:t>2026-10-26  |  대용량 실행 전 시간 예측 · 20회차 CSV 전달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현재 지원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E6E83"/>
                </a:solidFill>
                <a:latin typeface="Malgun Gothic"/>
              </a:rPr>
              <a:t>MACROATLAS  ·  지원 범위  · 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6528816"/>
            <a:ext cx="512064" cy="54864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3949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73152" cy="182880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252728"/>
            <a:ext cx="49834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고정 경로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1700784"/>
            <a:ext cx="4956048" cy="11704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73448"/>
                </a:solidFill>
                <a:latin typeface="Malgun Gothic"/>
              </a:rPr>
              <a:t>World Bank USA GDP, BOJ FM08/FXERD01 한 달, TIC/BIS exact-scope file watch를 제공합니다.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143000"/>
            <a:ext cx="53949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143000"/>
            <a:ext cx="73152" cy="182880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252728"/>
            <a:ext cx="49834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연결 부품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700784"/>
            <a:ext cx="4956048" cy="11704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73448"/>
                </a:solidFill>
                <a:latin typeface="Malgun Gothic"/>
              </a:rPr>
              <a:t>제한된 BLS/Census Python API, 명시 파일 parser, task·feedback 이력과 읽기 전용 pattern 분석이 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46120"/>
            <a:ext cx="53949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246120"/>
            <a:ext cx="73152" cy="1828800"/>
          </a:xfrm>
          <a:prstGeom prst="rect">
            <a:avLst/>
          </a:prstGeom>
          <a:solidFill>
            <a:srgbClr val="E1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355848"/>
            <a:ext cx="49834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미지원 범위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3803904"/>
            <a:ext cx="4956048" cy="11704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73448"/>
                </a:solidFill>
                <a:latin typeface="Malgun Gothic"/>
              </a:rPr>
              <a:t>일반 자연어·기관 전체 검색, 정식 대용량 정규화, 범용 CSV/XLSX 변환, 제품 자체 스케줄러는 없습니다. 완료 World Bank/BOJ task는 제한 CSV export를 지원합니다.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246120"/>
            <a:ext cx="53949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246120"/>
            <a:ext cx="73152" cy="1828800"/>
          </a:xfrm>
          <a:prstGeom prst="rect">
            <a:avLst/>
          </a:prstGeom>
          <a:solidFill>
            <a:srgbClr val="E1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355848"/>
            <a:ext cx="49834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증거 경계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803904"/>
            <a:ext cx="4956048" cy="11704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73448"/>
                </a:solidFill>
                <a:latin typeface="Malgun Gothic"/>
              </a:rPr>
              <a:t>TIC/BIS 자연 개정과 자연 provider 실패 후 같은 task 재개는 미관측입니다. 제한 경로 성공을 전체 지원으로 넓히지 않습니다.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안전한 수집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E6E83"/>
                </a:solidFill>
                <a:latin typeface="Malgun Gothic"/>
              </a:rPr>
              <a:t>MACROATLAS  ·  요청부터 검증까지  · 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6528816"/>
            <a:ext cx="512064" cy="54864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2084831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73152" cy="196596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67128"/>
            <a:ext cx="1673351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요청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615184"/>
            <a:ext cx="1645919" cy="13075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Malgun Gothic"/>
              </a:rPr>
              <a:t>기관·지표·국가·기간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399032"/>
            <a:ext cx="1874519" cy="4114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2300" b="1">
                <a:solidFill>
                  <a:srgbClr val="17817B"/>
                </a:solidFill>
                <a:latin typeface="Malgun 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2697480"/>
            <a:ext cx="22860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5E6E83"/>
                </a:solidFill>
                <a:latin typeface="Malgun Gothic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2057400"/>
            <a:ext cx="2084831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62072" y="2057400"/>
            <a:ext cx="73152" cy="196596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8" y="2167128"/>
            <a:ext cx="1673351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근거와 선택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2615184"/>
            <a:ext cx="1645919" cy="13075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Malgun Gothic"/>
              </a:rPr>
              <a:t>정의와 후보를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1399032"/>
            <a:ext cx="1874519" cy="4114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2300" b="1">
                <a:solidFill>
                  <a:srgbClr val="17817B"/>
                </a:solidFill>
                <a:latin typeface="Malgun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2697480"/>
            <a:ext cx="22860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5E6E83"/>
                </a:solidFill>
                <a:latin typeface="Malgun Gothic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21224" y="2057400"/>
            <a:ext cx="2084831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21224" y="2057400"/>
            <a:ext cx="73152" cy="196596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2167128"/>
            <a:ext cx="1673351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명시 수집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615184"/>
            <a:ext cx="1645919" cy="13075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Malgun Gothic"/>
              </a:rPr>
              <a:t>고정 경로·호출 한도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1399032"/>
            <a:ext cx="1874519" cy="4114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2300" b="1">
                <a:solidFill>
                  <a:srgbClr val="17817B"/>
                </a:solidFill>
                <a:latin typeface="Malgun Gothi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24344" y="2697480"/>
            <a:ext cx="22860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5E6E83"/>
                </a:solidFill>
                <a:latin typeface="Malgun Gothic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0376" y="2057400"/>
            <a:ext cx="2084831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80376" y="2057400"/>
            <a:ext cx="73152" cy="196596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9832" y="2167128"/>
            <a:ext cx="1673351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보존·검증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9832" y="2615184"/>
            <a:ext cx="1645919" cy="13075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Malgun Gothic"/>
              </a:rPr>
              <a:t>raw, manifest, hash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104" y="1399032"/>
            <a:ext cx="1874519" cy="4114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2300" b="1">
                <a:solidFill>
                  <a:srgbClr val="17817B"/>
                </a:solidFill>
                <a:latin typeface="Malgun Gothi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3496" y="2697480"/>
            <a:ext cx="22860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5E6E83"/>
                </a:solidFill>
                <a:latin typeface="Malgun Gothic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39528" y="2057400"/>
            <a:ext cx="2084831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39528" y="2057400"/>
            <a:ext cx="73152" cy="1965960"/>
          </a:xfrm>
          <a:prstGeom prst="rect">
            <a:avLst/>
          </a:prstGeom>
          <a:solidFill>
            <a:srgbClr val="E1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58984" y="2167128"/>
            <a:ext cx="1673351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검토·기록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58984" y="2615184"/>
            <a:ext cx="1645919" cy="13075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Malgun Gothic"/>
              </a:rPr>
              <a:t>불확실성은 유지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9256" y="1399032"/>
            <a:ext cx="1874519" cy="4114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2300" b="1">
                <a:solidFill>
                  <a:srgbClr val="E17C43"/>
                </a:solidFill>
                <a:latin typeface="Malgun Gothic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709160"/>
            <a:ext cx="10607040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14223B"/>
                </a:solidFill>
                <a:latin typeface="Malgun Gothic"/>
              </a:rPr>
              <a:t>불확실한 후보·정의·권한은 확인 전 자동 수집하지 않습니다.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고정 경로 실행과 task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E6E83"/>
                </a:solidFill>
                <a:latin typeface="Malgun Gothic"/>
              </a:rPr>
              <a:t>MACROATLAS  ·  실제 요청은 --live  · 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6528816"/>
            <a:ext cx="512064" cy="54864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789920" cy="960120"/>
          </a:xfrm>
          <a:prstGeom prst="roundRect">
            <a:avLst/>
          </a:prstGeom>
          <a:solidFill>
            <a:srgbClr val="14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241280" cy="5029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onsolas"/>
              </a:rPr>
              <a:t>macroatlas collect worldbank-gdp --start-year 2020 --end-year 2022 --live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843784"/>
            <a:ext cx="91440" cy="9144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697480"/>
            <a:ext cx="10021824" cy="5943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73448"/>
                </a:solidFill>
                <a:latin typeface="Malgun Gothic"/>
              </a:rPr>
              <a:t>이 범위는 USA · WDI source 2 · NY.GDP.MKTP.CD만 수집합니다. BOJ는 FM08/FXERD01 한 달만 지원합니다.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666744"/>
            <a:ext cx="91440" cy="9144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520440"/>
            <a:ext cx="10021824" cy="5943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73448"/>
                </a:solidFill>
                <a:latin typeface="Malgun Gothic"/>
              </a:rPr>
              <a:t>요청은 네트워크 전에 task로 저장됩니다. 출력의 TASK_ID로 상태와 저장 경로를 확인하세요.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489704"/>
            <a:ext cx="91440" cy="91440"/>
          </a:xfrm>
          <a:prstGeom prst="rect">
            <a:avLst/>
          </a:prstGeom>
          <a:solidFill>
            <a:srgbClr val="E1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4343400"/>
            <a:ext cx="10021824" cy="5943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73448"/>
                </a:solidFill>
                <a:latin typeface="Malgun Gothic"/>
              </a:rPr>
              <a:t>재개는 같은 task ID를 사용합니다. Retry-After와 attempt 예산을 지키며 자동 재시도는 하지 않습니다.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349240"/>
            <a:ext cx="1024128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5E6E83"/>
                </a:solidFill>
                <a:latin typeface="Malgun Gothic"/>
              </a:rPr>
              <a:t>TIC/BIS watch도 각각 한 번의 명시적 live 요청입니다. 임의 URL이나 기관은 입력할 수 없습니다.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결과·원본·이력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E6E83"/>
                </a:solidFill>
                <a:latin typeface="Malgun Gothic"/>
              </a:rPr>
              <a:t>MACROATLAS  ·  task에 연결된 provenance  · 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6528816"/>
            <a:ext cx="512064" cy="54864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949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1874519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435607"/>
            <a:ext cx="49834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원본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1883664"/>
            <a:ext cx="4956048" cy="1216151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Malgun Gothic"/>
              </a:rPr>
              <a:t>data/raw/&lt;source&gt;/&lt;package-id&gt;/ 아래 raw와 request manifest
원본 hash·범위·수집 시각을 보존합니다.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25880"/>
            <a:ext cx="53949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25880"/>
            <a:ext cx="73152" cy="1874519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35607"/>
            <a:ext cx="49834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이력과 검사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83664"/>
            <a:ext cx="4956048" cy="1216151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Malgun Gothic"/>
              </a:rPr>
              <a:t>data/catalog.sqlite
Task, stage, attempt/event와 검증 상태를 보관합니다.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20440"/>
            <a:ext cx="53949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520440"/>
            <a:ext cx="73152" cy="1874519"/>
          </a:xfrm>
          <a:prstGeom prst="rect">
            <a:avLst/>
          </a:prstGeom>
          <a:solidFill>
            <a:srgbClr val="E1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630168"/>
            <a:ext cx="49834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실행 요약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4078224"/>
            <a:ext cx="4956048" cy="1216151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Malgun Gothic"/>
              </a:rPr>
              <a:t>CLI JSON 요약
TASK_ID, 상태, 경고, artifact 저장 경로를 확인합니다.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520440"/>
            <a:ext cx="53949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520440"/>
            <a:ext cx="73152" cy="1874519"/>
          </a:xfrm>
          <a:prstGeom prst="rect">
            <a:avLst/>
          </a:prstGeom>
          <a:solidFill>
            <a:srgbClr val="E1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630168"/>
            <a:ext cx="49834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자료 의미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078224"/>
            <a:ext cx="4956048" cy="1216151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Malgun Gothic"/>
              </a:rPr>
              <a:t>0과 null은 다릅니다. 완료된 World Bank/BOJ task는 CSV로 저장할 수 있습니다. 범용 CSV/XLSX 변환은 지원하지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API 키와 네트워크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E6E83"/>
                </a:solidFill>
                <a:latin typeface="Malgun Gothic"/>
              </a:rPr>
              <a:t>MACROATLAS  ·  현재 지원 범위  · 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6528816"/>
            <a:ext cx="512064" cy="54864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5204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73152" cy="150876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344168"/>
            <a:ext cx="310896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키 불필요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1792224"/>
            <a:ext cx="3081528" cy="8503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Malgun Gothic"/>
              </a:rPr>
              <a:t>World Bank의 이 고정 WDI query는 공개 API를 사용합니다.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234440"/>
            <a:ext cx="35204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234440"/>
            <a:ext cx="73152" cy="150876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44168"/>
            <a:ext cx="310896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선택적 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792224"/>
            <a:ext cx="3081528" cy="8503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Malgun Gothic"/>
              </a:rPr>
              <a:t>BLS_API_KEY는 일반 series-data 조회에서 선택 사항입니다. 일부 catalogue path는 등록 키가 필요합니다.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34440"/>
            <a:ext cx="35204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34440"/>
            <a:ext cx="73152" cy="1508760"/>
          </a:xfrm>
          <a:prstGeom prst="rect">
            <a:avLst/>
          </a:prstGeom>
          <a:solidFill>
            <a:srgbClr val="E1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344168"/>
            <a:ext cx="310896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필수 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1792224"/>
            <a:ext cx="3081528" cy="8503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Malgun Gothic"/>
              </a:rPr>
              <a:t>CENSUS_API_KEY는 지원된 ACS query 경로에서 필요합니다.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483864"/>
            <a:ext cx="91440" cy="9144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" y="3337560"/>
            <a:ext cx="10113264" cy="6858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73448"/>
                </a:solidFill>
                <a:latin typeface="Malgun Gothic"/>
              </a:rPr>
              <a:t>필요한 기관의 키만 승인된 secret manager 또는 환경변수로 전달하세요. 실제 키를 문서·Git·채팅에 넣지 않습니다.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398264"/>
            <a:ext cx="91440" cy="9144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" y="4251960"/>
            <a:ext cx="10113264" cy="6858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73448"/>
                </a:solidFill>
                <a:latin typeface="Malgun Gothic"/>
              </a:rPr>
              <a:t>프로젝트는 .env를 자동으로 읽지 않습니다. key가 설정되어 있다는 사실만으로 인증 성공을 판단하지 않습니다.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5312664"/>
            <a:ext cx="91440" cy="91440"/>
          </a:xfrm>
          <a:prstGeom prst="rect">
            <a:avLst/>
          </a:prstGeom>
          <a:solidFill>
            <a:srgbClr val="E1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5166360"/>
            <a:ext cx="10113264" cy="6858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73448"/>
                </a:solidFill>
                <a:latin typeface="Malgun Gothic"/>
              </a:rPr>
              <a:t>외부 요청은 설정된 프록시와 CA 신뢰를 사용하고 TLS 검증을 유지합니다. 프록시 우회나 인증 우회는 하지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오류를 안전하게 다루기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E6E83"/>
                </a:solidFill>
                <a:latin typeface="Malgun Gothic"/>
              </a:rPr>
              <a:t>MACROATLAS  ·  현재 지원 범위  · 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6528816"/>
            <a:ext cx="512064" cy="54864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949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1645920"/>
          </a:xfrm>
          <a:prstGeom prst="rect">
            <a:avLst/>
          </a:prstGeom>
          <a:solidFill>
            <a:srgbClr val="E1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435607"/>
            <a:ext cx="49834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FAILED_RETRYABLE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1883664"/>
            <a:ext cx="4956048" cy="98755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Malgun Gothic"/>
              </a:rPr>
              <a:t>같은 task와 범위를 확인합니다. Retry-After가 있으면 대기 후 명시적 resume. 자동 재시도 없음.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25880"/>
            <a:ext cx="53949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25880"/>
            <a:ext cx="73152" cy="1645920"/>
          </a:xfrm>
          <a:prstGeom prst="rect">
            <a:avLst/>
          </a:prstGeom>
          <a:solidFill>
            <a:srgbClr val="E1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35607"/>
            <a:ext cx="49834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NEEDS_REVIEW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83664"/>
            <a:ext cx="4956048" cy="98755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Malgun Gothic"/>
              </a:rPr>
              <a:t>권한·schema·의미·품질을 먼저 검토합니다. 검토를 건너뛰어 강제 resume하지 않습니다.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37560"/>
            <a:ext cx="53949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337560"/>
            <a:ext cx="73152" cy="164592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447288"/>
            <a:ext cx="49834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변경된 원본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3895344"/>
            <a:ext cx="4956048" cy="98755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Malgun Gothic"/>
              </a:rPr>
              <a:t>양쪽 raw를 보존합니다. 같은 scope에서 changed/NEEDS_REVIEW면 승인 전 normalized 출력이 차단됩니다.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337560"/>
            <a:ext cx="53949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337560"/>
            <a:ext cx="73152" cy="164592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447288"/>
            <a:ext cx="49834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실행 전 예상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895344"/>
            <a:ext cx="4956048" cy="98755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Malgun Gothic"/>
              </a:rPr>
              <a:t>대용량 실행 전 예상 시간·범위를 표시합니다. `large-estimate`로 task 없이 확인하세요. 예측은 승인이나 Gate C 증거가 아닙니다.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피드백과 검토용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E6E83"/>
                </a:solidFill>
                <a:latin typeface="Malgun Gothic"/>
              </a:rPr>
              <a:t>MACROATLAS  ·  현재 지원 범위  · 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6528816"/>
            <a:ext cx="512064" cy="54864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789920" cy="685800"/>
          </a:xfrm>
          <a:prstGeom prst="roundRect">
            <a:avLst/>
          </a:prstGeom>
          <a:solidFill>
            <a:srgbClr val="14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99032"/>
            <a:ext cx="1024128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onsolas"/>
              </a:rPr>
              <a:t>python -m macro_data_platform.feedback_cli --project-root . --help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10789920" cy="685800"/>
          </a:xfrm>
          <a:prstGeom prst="roundRect">
            <a:avLst/>
          </a:prstGeom>
          <a:solidFill>
            <a:srgbClr val="14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1024128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python -m macro_data_platform.pattern_cli --project-root 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483864"/>
            <a:ext cx="91440" cy="9144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337560"/>
            <a:ext cx="10021824" cy="5029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73448"/>
                </a:solidFill>
                <a:latin typeface="Malgun Gothic"/>
              </a:rPr>
              <a:t>피드백은 기존 task에 연결되고 새 레코드는 자동 승인되지 않습니다.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215384"/>
            <a:ext cx="91440" cy="9144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4069080"/>
            <a:ext cx="10021824" cy="6583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73448"/>
                </a:solidFill>
                <a:latin typeface="Malgun Gothic"/>
              </a:rPr>
              <a:t>분석 결과는 draft 검토 후보입니다. 코드 수정·승인·자동 적용을 하지 않으며 반복 근거가 없으면 후보를 만들지 않습니다.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129784"/>
            <a:ext cx="91440" cy="91440"/>
          </a:xfrm>
          <a:prstGeom prst="rect">
            <a:avLst/>
          </a:prstGeom>
          <a:solidFill>
            <a:srgbClr val="E1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4983480"/>
            <a:ext cx="10021824" cy="5486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73448"/>
                </a:solidFill>
                <a:latin typeface="Malgun Gothic"/>
              </a:rPr>
              <a:t>다른 task 3개 미만, 범위 불일치, 미검토 피드백은 같은 반복 후보로 합치지 않습니다.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기관 시나리오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E6E83"/>
                </a:solidFill>
                <a:latin typeface="Malgun Gothic"/>
              </a:rPr>
              <a:t>기관별로 확인된 좁은 범위  · 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6528816"/>
            <a:ext cx="512064" cy="54864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37947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73152" cy="932688"/>
          </a:xfrm>
          <a:prstGeom prst="rect">
            <a:avLst/>
          </a:prstGeom>
          <a:solidFill>
            <a:srgbClr val="E1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252728"/>
            <a:ext cx="33832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A IMF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700784"/>
            <a:ext cx="3355848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73448"/>
                </a:solidFill>
                <a:latin typeface="Malgun Gothic"/>
              </a:rPr>
              <a:t>live SDMX/dataflow 미지원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344168"/>
            <a:ext cx="132588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E17C43"/>
                </a:solidFill>
                <a:latin typeface="Malgun Gothic"/>
              </a:rPr>
              <a:t>BLOCKED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143000"/>
            <a:ext cx="37947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143000"/>
            <a:ext cx="73152" cy="932688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252728"/>
            <a:ext cx="33832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B BIS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700784"/>
            <a:ext cx="3355848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73448"/>
                </a:solidFill>
                <a:latin typeface="Malgun Gothic"/>
              </a:rPr>
              <a:t>bulk file intake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1552" y="1344168"/>
            <a:ext cx="132588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7817B"/>
                </a:solidFill>
                <a:latin typeface="Malgun Gothic"/>
              </a:rPr>
              <a:t>PARTIAL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13432"/>
            <a:ext cx="37947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313432"/>
            <a:ext cx="73152" cy="932688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2423160"/>
            <a:ext cx="33832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C 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2871216"/>
            <a:ext cx="3355848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73448"/>
                </a:solidFill>
                <a:latin typeface="Malgun Gothic"/>
              </a:rPr>
              <a:t>명시 파일·통제 변경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514600"/>
            <a:ext cx="132588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7817B"/>
                </a:solidFill>
                <a:latin typeface="Malgun Gothic"/>
              </a:rPr>
              <a:t>PARTIAL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13432"/>
            <a:ext cx="37947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313432"/>
            <a:ext cx="73152" cy="932688"/>
          </a:xfrm>
          <a:prstGeom prst="rect">
            <a:avLst/>
          </a:prstGeom>
          <a:solidFill>
            <a:srgbClr val="E1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423160"/>
            <a:ext cx="33832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D BEA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71216"/>
            <a:ext cx="3355848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73448"/>
                </a:solidFill>
                <a:latin typeface="Malgun Gothic"/>
              </a:rPr>
              <a:t>connector 미지원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31552" y="2514600"/>
            <a:ext cx="132588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E17C43"/>
                </a:solidFill>
                <a:latin typeface="Malgun Gothic"/>
              </a:rPr>
              <a:t>BLOCKED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483864"/>
            <a:ext cx="37947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483864"/>
            <a:ext cx="73152" cy="932688"/>
          </a:xfrm>
          <a:prstGeom prst="rect">
            <a:avLst/>
          </a:prstGeom>
          <a:solidFill>
            <a:srgbClr val="E1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3593592"/>
            <a:ext cx="33832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E ECB/Eurostat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4041648"/>
            <a:ext cx="3355848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73448"/>
                </a:solidFill>
                <a:latin typeface="Malgun Gothic"/>
              </a:rPr>
              <a:t>end-to-end 미지원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3685032"/>
            <a:ext cx="132588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E17C43"/>
                </a:solidFill>
                <a:latin typeface="Malgun Gothic"/>
              </a:rPr>
              <a:t>BLOCKED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483864"/>
            <a:ext cx="37947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3483864"/>
            <a:ext cx="73152" cy="932688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1656" y="3593592"/>
            <a:ext cx="33832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F Japan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4041648"/>
            <a:ext cx="3355848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73448"/>
                </a:solidFill>
                <a:latin typeface="Malgun Gothic"/>
              </a:rPr>
              <a:t>BOJ FXERD01 한 달 collector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31552" y="3685032"/>
            <a:ext cx="132588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7817B"/>
                </a:solidFill>
                <a:latin typeface="Malgun Gothic"/>
              </a:rPr>
              <a:t>PARTIAL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654296"/>
            <a:ext cx="37947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654296"/>
            <a:ext cx="73152" cy="932688"/>
          </a:xfrm>
          <a:prstGeom prst="rect">
            <a:avLst/>
          </a:prstGeom>
          <a:solidFill>
            <a:srgbClr val="E1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4764024"/>
            <a:ext cx="33832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G China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" y="5212080"/>
            <a:ext cx="3355848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73448"/>
                </a:solidFill>
                <a:latin typeface="Malgun Gothic"/>
              </a:rPr>
              <a:t>미지원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9432" y="4855464"/>
            <a:ext cx="132588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E17C43"/>
                </a:solidFill>
                <a:latin typeface="Malgun Gothic"/>
              </a:rPr>
              <a:t>BLOCKED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654296"/>
            <a:ext cx="37947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4654296"/>
            <a:ext cx="73152" cy="932688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1656" y="4764024"/>
            <a:ext cx="338328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23B"/>
                </a:solidFill>
                <a:latin typeface="Malgun Gothic"/>
              </a:rPr>
              <a:t>H World Bank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1656" y="5212080"/>
            <a:ext cx="3355848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73448"/>
                </a:solidFill>
                <a:latin typeface="Malgun Gothic"/>
              </a:rPr>
              <a:t>고정 USA GDP 경로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31552" y="4855464"/>
            <a:ext cx="132588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7817B"/>
                </a:solidFill>
                <a:latin typeface="Malgun Gothic"/>
              </a:rPr>
              <a:t>PARTIAL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989320"/>
            <a:ext cx="1033272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5E6E83"/>
                </a:solidFill>
                <a:latin typeface="Malgun Gothic"/>
              </a:rPr>
              <a:t>PARTIAL은 확인된 경로만 뜻합니다. 기관 전체 상태나 일반 지원을 의미하지 않습니다.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현재 경계와 다음 투자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E6E83"/>
                </a:solidFill>
                <a:latin typeface="Malgun Gothic"/>
              </a:rPr>
              <a:t>MACROATLAS  ·  증거 범위를 지킵니다  · 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6528816"/>
            <a:ext cx="512064" cy="54864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26463"/>
            <a:ext cx="91440" cy="9144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280160"/>
            <a:ext cx="10296144" cy="64008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73448"/>
                </a:solidFill>
                <a:latin typeface="Malgun Gothic"/>
              </a:rPr>
              <a:t>Gate A/D 통과, B/C/E 제한 범위 판정입니다. 현재 범위와 증거는 docs/IMPLEMENTATION_PLAN.md를 확인하세요.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86584"/>
            <a:ext cx="91440" cy="91440"/>
          </a:xfrm>
          <a:prstGeom prst="rect">
            <a:avLst/>
          </a:prstGeom>
          <a:solidFill>
            <a:srgbClr val="E1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40280"/>
            <a:ext cx="10296144" cy="64008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73448"/>
                </a:solidFill>
                <a:latin typeface="Malgun Gothic"/>
              </a:rPr>
              <a:t>자연 TIC/BIS source revision 및 자연 provider failure → 같은 task 재개는 아직 관측되지 않았습니다.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46704"/>
            <a:ext cx="91440" cy="9144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3200400"/>
            <a:ext cx="10296144" cy="64008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73448"/>
                </a:solidFill>
                <a:latin typeface="Malgun Gothic"/>
              </a:rPr>
              <a:t>22회차: 비API 대용량 qualification·BIS production 실행 전에 시간·범위를 보여줍니다. 예측은 명시 승인이나 worker 상한을 바꾸지 않습니다.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06824"/>
            <a:ext cx="91440" cy="91440"/>
          </a:xfrm>
          <a:prstGeom prst="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4160520"/>
            <a:ext cx="10296144" cy="7315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73448"/>
                </a:solidFill>
                <a:latin typeface="Malgun Gothic"/>
              </a:rPr>
              <a:t>다음 순서: 사용자 업무 흐름 검증 → 사용성·지원 범위 결정. Gate C natural evidence는 관측 이벤트 대기.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178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94960"/>
            <a:ext cx="1014984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일반 검색·추가 기관·자동 merge/publish는 별도 검토 대상입니다. 자연 증거는 인위적으로 만들지 않습니다.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