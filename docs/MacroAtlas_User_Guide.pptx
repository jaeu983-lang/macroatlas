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ff4d1a777b4853" /><Relationship Type="http://schemas.openxmlformats.org/officeDocument/2006/relationships/extended-properties" Target="/docProps/app.xml" Id="Rbb65031d26184c83" /><Relationship Type="http://schemas.openxmlformats.org/officeDocument/2006/relationships/officeDocument" Target="/ppt/presentation.xml" Id="Rd7bc955e5d6b49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1bae5ff85a4fc1"/>
  </p:sldMasterIdLst>
  <p:notesMasterIdLst>
    <p:notesMasterId xmlns:r="http://schemas.openxmlformats.org/officeDocument/2006/relationships" r:id="Rbfb8cc5b202048be"/>
  </p:notesMasterIdLst>
  <p:sldIdLst>
    <p:sldId xmlns:r="http://schemas.openxmlformats.org/officeDocument/2006/relationships" id="256" r:id="Rfec752eda12e4d00"/>
    <p:sldId xmlns:r="http://schemas.openxmlformats.org/officeDocument/2006/relationships" id="257" r:id="R7ab8f9cff0304ade"/>
    <p:sldId xmlns:r="http://schemas.openxmlformats.org/officeDocument/2006/relationships" id="258" r:id="R3163939782ea4c50"/>
    <p:sldId xmlns:r="http://schemas.openxmlformats.org/officeDocument/2006/relationships" id="259" r:id="Rd09525af9f104083"/>
    <p:sldId xmlns:r="http://schemas.openxmlformats.org/officeDocument/2006/relationships" id="260" r:id="Rc87099aefc7a4b5b"/>
    <p:sldId xmlns:r="http://schemas.openxmlformats.org/officeDocument/2006/relationships" id="261" r:id="R351a3ec5e7f84015"/>
    <p:sldId xmlns:r="http://schemas.openxmlformats.org/officeDocument/2006/relationships" id="262" r:id="Re701bdeed8e04a49"/>
    <p:sldId xmlns:r="http://schemas.openxmlformats.org/officeDocument/2006/relationships" id="263" r:id="R60628c351f434ddc"/>
    <p:sldId xmlns:r="http://schemas.openxmlformats.org/officeDocument/2006/relationships" id="264" r:id="R4e7c0c30677f47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6c4d6bbffe4236" /><Relationship Type="http://schemas.openxmlformats.org/officeDocument/2006/relationships/slideMaster" Target="/ppt/slideMasters/slideMaster1.xml" Id="R8c1bae5ff85a4fc1" /><Relationship Type="http://schemas.openxmlformats.org/officeDocument/2006/relationships/notesMaster" Target="/ppt/notesMasters/notesMaster1.xml" Id="Rbfb8cc5b202048be" /><Relationship Type="http://schemas.openxmlformats.org/officeDocument/2006/relationships/presProps" Target="/ppt/presProps.xml" Id="R4a5503dfe27d4375" /><Relationship Type="http://schemas.openxmlformats.org/officeDocument/2006/relationships/tableStyles" Target="/ppt/tableStyles.xml" Id="R0e9c7add29b74f7c" /><Relationship Type="http://schemas.openxmlformats.org/officeDocument/2006/relationships/slide" Target="/ppt/slides/slide1.xml" Id="Rfec752eda12e4d00" /><Relationship Type="http://schemas.openxmlformats.org/officeDocument/2006/relationships/slide" Target="/ppt/slides/slide2.xml" Id="R7ab8f9cff0304ade" /><Relationship Type="http://schemas.openxmlformats.org/officeDocument/2006/relationships/slide" Target="/ppt/slides/slide3.xml" Id="R3163939782ea4c50" /><Relationship Type="http://schemas.openxmlformats.org/officeDocument/2006/relationships/slide" Target="/ppt/slides/slide4.xml" Id="Rd09525af9f104083" /><Relationship Type="http://schemas.openxmlformats.org/officeDocument/2006/relationships/slide" Target="/ppt/slides/slide5.xml" Id="Rc87099aefc7a4b5b" /><Relationship Type="http://schemas.openxmlformats.org/officeDocument/2006/relationships/slide" Target="/ppt/slides/slide6.xml" Id="R351a3ec5e7f84015" /><Relationship Type="http://schemas.openxmlformats.org/officeDocument/2006/relationships/slide" Target="/ppt/slides/slide7.xml" Id="Re701bdeed8e04a49" /><Relationship Type="http://schemas.openxmlformats.org/officeDocument/2006/relationships/slide" Target="/ppt/slides/slide8.xml" Id="R60628c351f434ddc" /><Relationship Type="http://schemas.openxmlformats.org/officeDocument/2006/relationships/slide" Target="/ppt/slides/slide9.xml" Id="R4e7c0c30677f47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443e07f38643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e3d28c94b4457b" /><Relationship Type="http://schemas.openxmlformats.org/officeDocument/2006/relationships/notesMaster" Target="/ppt/notesMasters/notesMaster1.xml" Id="R0285f6bbb1554b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c7009398734001" /><Relationship Type="http://schemas.openxmlformats.org/officeDocument/2006/relationships/notesMaster" Target="/ppt/notesMasters/notesMaster1.xml" Id="Rad3534569e8e48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b202f1a7ad49c9" /><Relationship Type="http://schemas.openxmlformats.org/officeDocument/2006/relationships/notesMaster" Target="/ppt/notesMasters/notesMaster1.xml" Id="Rde1a836f49cd49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90a9a9d93d459b" /><Relationship Type="http://schemas.openxmlformats.org/officeDocument/2006/relationships/notesMaster" Target="/ppt/notesMasters/notesMaster1.xml" Id="R288047dd0db149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7460691bee469e" /><Relationship Type="http://schemas.openxmlformats.org/officeDocument/2006/relationships/notesMaster" Target="/ppt/notesMasters/notesMaster1.xml" Id="Rfaf0ce474e594a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96e2a5613b4cbe" /><Relationship Type="http://schemas.openxmlformats.org/officeDocument/2006/relationships/notesMaster" Target="/ppt/notesMasters/notesMaster1.xml" Id="R8e54f300e5ae47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a93c6e4a9449f9" /><Relationship Type="http://schemas.openxmlformats.org/officeDocument/2006/relationships/notesMaster" Target="/ppt/notesMasters/notesMaster1.xml" Id="R876e0f8acd6043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1e27ba990d4bc7" /><Relationship Type="http://schemas.openxmlformats.org/officeDocument/2006/relationships/notesMaster" Target="/ppt/notesMasters/notesMaster1.xml" Id="R3c3feb89880949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2634d3e1b24272" /><Relationship Type="http://schemas.openxmlformats.org/officeDocument/2006/relationships/notesMaster" Target="/ppt/notesMasters/notesMaster1.xml" Id="Rd6c67072d1ff41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PROJECT_PLAN.md §10.3, docs/USER_GUIDE.md.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docs/USER_GUIDE.md §1, docs/ITERATION_04_REPORT.md.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docs/USER_GUIDE.md §2, scripts/run_checks.ps1.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docs/USER_GUIDE.md §3, docs/connectors/WORLDBANK.md.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docs/USER_GUIDE.md §1, §5, src/macro_data_platform/ingestion/worldbank_request.py.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docs/USER_GUIDE.md §4, docs/ITERATION_04_REPORT.md.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docs/USER_GUIDE.md §6, docs/ITERATION_10_REPORT.md.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docs/USER_GUIDE.md §7, docs/REFERENCE_SCENARIOS.md, docs/ITERATION_04_REPORT.md.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기준: docs/USER_GUIDE.md §8. 저장소 구현·테스트 기록을 요약했으며 live 실행을 주장하지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a988846296441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4cc7914dfe401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21f0a5d4ce42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df168159554e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2aac4dd6384df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c0e883baa44a2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65C56DC-79EE-4A6E-B0C7-B7D002B5FA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EF34B42-68A0-4352-B803-6BBC07B1B99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29785D9-C574-4C95-A215-6FD2D72991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F06084-3D57-4EC6-BD02-C857C3186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A941381-C409-4E9E-87C1-D44124329E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1B46BCB-DC4A-4877-B92A-7FCE377C81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E63DAD3-DC16-43F4-90E1-884117CCA3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6E63B1D-9D13-48F5-9846-88697F40FF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D36DAD-3112-42BA-83D4-9BBD6716E2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C379471-BD8D-45A1-81A2-4F229B365C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e82ac98cd242ca" /><Relationship Type="http://schemas.openxmlformats.org/officeDocument/2006/relationships/slideLayout" Target="/ppt/slideLayouts/slideLayout1.xml" Id="Rf8550e40698746af" /><Relationship Type="http://schemas.openxmlformats.org/officeDocument/2006/relationships/slideLayout" Target="/ppt/slideLayouts/slideLayout2.xml" Id="R54c2046dfddf4b9e" /><Relationship Type="http://schemas.openxmlformats.org/officeDocument/2006/relationships/slideLayout" Target="/ppt/slideLayouts/slideLayout3.xml" Id="Rff8b067e6c2049cc" /><Relationship Type="http://schemas.openxmlformats.org/officeDocument/2006/relationships/slideLayout" Target="/ppt/slideLayouts/slideLayout4.xml" Id="R3b4f5a5a69894e21" /><Relationship Type="http://schemas.openxmlformats.org/officeDocument/2006/relationships/slideLayout" Target="/ppt/slideLayouts/slideLayout5.xml" Id="Re9c3c3ff5d614bf8" /><Relationship Type="http://schemas.openxmlformats.org/officeDocument/2006/relationships/slideLayout" Target="/ppt/slideLayouts/slideLayout6.xml" Id="Ra5a35a3f09aa46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550e40698746af"/>
    <p:sldLayoutId xmlns:r="http://schemas.openxmlformats.org/officeDocument/2006/relationships" id="2147483650" r:id="R54c2046dfddf4b9e"/>
    <p:sldLayoutId xmlns:r="http://schemas.openxmlformats.org/officeDocument/2006/relationships" id="2147483651" r:id="Rff8b067e6c2049cc"/>
    <p:sldLayoutId xmlns:r="http://schemas.openxmlformats.org/officeDocument/2006/relationships" id="2147483652" r:id="R3b4f5a5a69894e21"/>
    <p:sldLayoutId xmlns:r="http://schemas.openxmlformats.org/officeDocument/2006/relationships" id="2147483653" r:id="Re9c3c3ff5d614bf8"/>
    <p:sldLayoutId xmlns:r="http://schemas.openxmlformats.org/officeDocument/2006/relationships" id="2147483654" r:id="Ra5a35a3f09aa46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cf9c73eb764232" /><Relationship Type="http://schemas.openxmlformats.org/officeDocument/2006/relationships/notesSlide" Target="/ppt/notesSlides/notesSlide1.xml" Id="R70113b8b2bb14c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44ce270a534165" /><Relationship Type="http://schemas.openxmlformats.org/officeDocument/2006/relationships/notesSlide" Target="/ppt/notesSlides/notesSlide2.xml" Id="R7fcd4bd909c34c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ef0d2ee53841c9" /><Relationship Type="http://schemas.openxmlformats.org/officeDocument/2006/relationships/notesSlide" Target="/ppt/notesSlides/notesSlide3.xml" Id="R50fa8cfd729945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759e21ced6484f" /><Relationship Type="http://schemas.openxmlformats.org/officeDocument/2006/relationships/notesSlide" Target="/ppt/notesSlides/notesSlide4.xml" Id="R59e3308028b040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7610ee82cd4cfc" /><Relationship Type="http://schemas.openxmlformats.org/officeDocument/2006/relationships/notesSlide" Target="/ppt/notesSlides/notesSlide5.xml" Id="R1ac1e441ec3a4c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d9c0bb118e499d" /><Relationship Type="http://schemas.openxmlformats.org/officeDocument/2006/relationships/notesSlide" Target="/ppt/notesSlides/notesSlide6.xml" Id="Rdbdf3f7900874c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a5f6c262854758" /><Relationship Type="http://schemas.openxmlformats.org/officeDocument/2006/relationships/notesSlide" Target="/ppt/notesSlides/notesSlide7.xml" Id="R180e018d3e2143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6fa5997c1145c7" /><Relationship Type="http://schemas.openxmlformats.org/officeDocument/2006/relationships/notesSlide" Target="/ppt/notesSlides/notesSlide8.xml" Id="Rafe45aadaef948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abd3eb4b224886" /><Relationship Type="http://schemas.openxmlformats.org/officeDocument/2006/relationships/notesSlide" Target="/ppt/notesSlides/notesSlide9.xml" Id="R416a74a36f2a46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FCA3969-BA68-4BB9-BCE9-AAF2227E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43000"/>
            <a:ext cx="114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5BA28EBF-F9F0-4C07-AF33-1C6AF469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1811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A8D7D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8D7D1"/>
                </a:solidFill>
                <a:latin typeface="Arial"/>
                <a:ea typeface="Arial"/>
                <a:cs typeface="Arial"/>
              </a:rPr>
              <a:t>INTERNATIONAL FINANCE DATA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5F967EF-8410-429F-B246-D7B242AF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9750"/>
            <a:ext cx="809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MacroAtlas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사용자 안내서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24876E0-EA13-4E47-9C7B-20123942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620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D9E5E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9E5EC"/>
                </a:solidFill>
                <a:latin typeface="Arial"/>
                <a:ea typeface="Arial"/>
                <a:cs typeface="Arial"/>
              </a:rPr>
              <a:t>현재 구현된 탐색·수집 경로와 안전한 결과 확인</a:t>
            </a:r>
          </a:p>
        </p:txBody>
      </p:sp>
      <p:sp>
        <p:nvSpPr>
          <p:cNvPr id="5" name="cover-scope">
            <a:extLst xmlns:a="http://schemas.openxmlformats.org/drawingml/2006/main">
              <a:ext uri="{FF2B5EF4-FFF2-40B4-BE49-F238E27FC236}">
                <a16:creationId xmlns:a16="http://schemas.microsoft.com/office/drawing/2014/main" id="{97D8CA88-4562-40DF-9963-6A716C44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8D7D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8D7D1"/>
                </a:solidFill>
                <a:latin typeface="Arial"/>
                <a:ea typeface="Arial"/>
                <a:cs typeface="Arial"/>
              </a:rPr>
              <a:t>현행 빌드 기준   2026.10.25</a:t>
            </a:r>
          </a:p>
        </p:txBody>
      </p:sp>
    </p:spTree>
    <p:extLst>
      <p:ext uri="{BB962C8B-B14F-4D97-AF65-F5344CB8AC3E}">
        <p14:creationId xmlns:p14="http://schemas.microsoft.com/office/powerpoint/2010/main" val="6828485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cent-2">
            <a:extLst xmlns:a="http://schemas.openxmlformats.org/drawingml/2006/main">
              <a:ext uri="{FF2B5EF4-FFF2-40B4-BE49-F238E27FC236}">
                <a16:creationId xmlns:a16="http://schemas.microsoft.com/office/drawing/2014/main" id="{1E7A99E0-0E4C-42E6-808B-D20BC659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6120DCAD-57A9-46F7-99B9-3294C5F6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현재 빌드에서 할 수 있는 일</a:t>
            </a:r>
          </a:p>
        </p:txBody>
      </p:sp>
      <p:sp>
        <p:nvSpPr>
          <p:cNvPr id="3" name="rule-2">
            <a:extLst xmlns:a="http://schemas.openxmlformats.org/drawingml/2006/main">
              <a:ext uri="{FF2B5EF4-FFF2-40B4-BE49-F238E27FC236}">
                <a16:creationId xmlns:a16="http://schemas.microsoft.com/office/drawing/2014/main" id="{09F96502-D202-4001-9DF6-D591007E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9FAE16AD-CC54-44B8-B864-18A35630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MacroAtlas    사용자 안내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6B718EA8-2EF4-4A4E-88BB-563D6A82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103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F6A9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scope-lead">
            <a:extLst xmlns:a="http://schemas.openxmlformats.org/drawingml/2006/main">
              <a:ext uri="{FF2B5EF4-FFF2-40B4-BE49-F238E27FC236}">
                <a16:creationId xmlns:a16="http://schemas.microsoft.com/office/drawing/2014/main" id="{48B5A08C-41F4-496D-9945-91D7B33B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F6A9B"/>
                </a:solidFill>
                <a:latin typeface="Arial"/>
                <a:ea typeface="Arial"/>
                <a:cs typeface="Arial"/>
              </a:rPr>
              <a:t>재현 가능한 실측 수집은 World Bank GDP 한 경로입니다</a:t>
            </a:r>
          </a:p>
        </p:txBody>
      </p:sp>
      <p:sp>
        <p:nvSpPr>
          <p:cNvPr id="7" name="scope-body">
            <a:extLst xmlns:a="http://schemas.openxmlformats.org/drawingml/2006/main">
              <a:ext uri="{FF2B5EF4-FFF2-40B4-BE49-F238E27FC236}">
                <a16:creationId xmlns:a16="http://schemas.microsoft.com/office/drawing/2014/main" id="{195D640F-1693-4A23-A62A-96FB82EB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72390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USA · WDI source 2 · NY.GDP.MKTP.CD</a:t>
            </a:r>
          </a:p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GDP (current US$)</a:t>
            </a:r>
          </a:p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연속 1~10년, 1960~2100 범위</a:t>
            </a:r>
          </a:p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원본 JSON 보존, 자료의 단위·주기·결측을 임의 변환하지 않음</a:t>
            </a:r>
          </a:p>
        </p:txBody>
      </p:sp>
      <p:sp>
        <p:nvSpPr>
          <p:cNvPr id="8" name="scope-divider">
            <a:extLst xmlns:a="http://schemas.openxmlformats.org/drawingml/2006/main">
              <a:ext uri="{FF2B5EF4-FFF2-40B4-BE49-F238E27FC236}">
                <a16:creationId xmlns:a16="http://schemas.microsoft.com/office/drawing/2014/main" id="{59016A3E-BCF6-4500-A62E-7A8DC30B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049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cope-boundary-label">
            <a:extLst xmlns:a="http://schemas.openxmlformats.org/drawingml/2006/main">
              <a:ext uri="{FF2B5EF4-FFF2-40B4-BE49-F238E27FC236}">
                <a16:creationId xmlns:a16="http://schemas.microsoft.com/office/drawing/2014/main" id="{AFD553AD-C825-402E-89C0-55145EF6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62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지원으로 간주하지 않는 기능</a:t>
            </a:r>
          </a:p>
        </p:txBody>
      </p:sp>
      <p:sp>
        <p:nvSpPr>
          <p:cNvPr id="10" name="scope-boundary">
            <a:extLst xmlns:a="http://schemas.openxmlformats.org/drawingml/2006/main">
              <a:ext uri="{FF2B5EF4-FFF2-40B4-BE49-F238E27FC236}">
                <a16:creationId xmlns:a16="http://schemas.microsoft.com/office/drawing/2014/main" id="{34CB8CE0-CEBC-4E5D-A60D-AC486DDD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857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다기관 live 수집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일반 사용자 CLI 또는 대화형 UI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자동 스케줄 실행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후보 발견만으로 자동 수집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기관 간 통계 등가성 자동 판단</a:t>
            </a:r>
          </a:p>
        </p:txBody>
      </p:sp>
      <p:sp>
        <p:nvSpPr>
          <p:cNvPr id="11" name="scope-note">
            <a:extLst xmlns:a="http://schemas.openxmlformats.org/drawingml/2006/main">
              <a:ext uri="{FF2B5EF4-FFF2-40B4-BE49-F238E27FC236}">
                <a16:creationId xmlns:a16="http://schemas.microsoft.com/office/drawing/2014/main" id="{EC1B2A7F-B7C8-48E4-858D-C46FA132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SDMX·파일 메타데이터 일부는 합성 fixture로 확인했습니다. 기관 API 연결 증거와 구분하세요.</a:t>
            </a:r>
          </a:p>
        </p:txBody>
      </p:sp>
    </p:spTree>
    <p:extLst>
      <p:ext uri="{BB962C8B-B14F-4D97-AF65-F5344CB8AC3E}">
        <p14:creationId xmlns:p14="http://schemas.microsoft.com/office/powerpoint/2010/main" val="7269287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cent-3">
            <a:extLst xmlns:a="http://schemas.openxmlformats.org/drawingml/2006/main">
              <a:ext uri="{FF2B5EF4-FFF2-40B4-BE49-F238E27FC236}">
                <a16:creationId xmlns:a16="http://schemas.microsoft.com/office/drawing/2014/main" id="{AD9C8C14-37E0-49B5-92A0-A754CF37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576A6638-5D56-4A3F-822A-6564AE34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설치와 오프라인 검사</a:t>
            </a:r>
          </a:p>
        </p:txBody>
      </p:sp>
      <p:sp>
        <p:nvSpPr>
          <p:cNvPr id="3" name="rule-3">
            <a:extLst xmlns:a="http://schemas.openxmlformats.org/drawingml/2006/main">
              <a:ext uri="{FF2B5EF4-FFF2-40B4-BE49-F238E27FC236}">
                <a16:creationId xmlns:a16="http://schemas.microsoft.com/office/drawing/2014/main" id="{C8E47B09-E09A-4811-9742-CBED6276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31E89623-535E-45C0-8129-5E1623DF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MacroAtlas    사용자 안내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A9359E88-49F6-4108-94EE-33AADC47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103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F6A9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install-prereq">
            <a:extLst xmlns:a="http://schemas.openxmlformats.org/drawingml/2006/main">
              <a:ext uri="{FF2B5EF4-FFF2-40B4-BE49-F238E27FC236}">
                <a16:creationId xmlns:a16="http://schemas.microsoft.com/office/drawing/2014/main" id="{8E5C510B-A05E-44F1-AF0E-D49474D2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6A9B"/>
                </a:solidFill>
                <a:latin typeface="Arial"/>
                <a:ea typeface="Arial"/>
                <a:cs typeface="Arial"/>
              </a:rPr>
              <a:t>Windows · Python 3.11 이상 · Git</a:t>
            </a:r>
          </a:p>
        </p:txBody>
      </p:sp>
      <p:sp>
        <p:nvSpPr>
          <p:cNvPr id="7" name="install-commands">
            <a:extLst xmlns:a="http://schemas.openxmlformats.org/drawingml/2006/main">
              <a:ext uri="{FF2B5EF4-FFF2-40B4-BE49-F238E27FC236}">
                <a16:creationId xmlns:a16="http://schemas.microsoft.com/office/drawing/2014/main" id="{EFD22D9B-7EB7-4F73-BA08-06EBC689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028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304A"/>
                </a:solidFill>
                <a:latin typeface="Arial"/>
                <a:ea typeface="Arial"/>
                <a:cs typeface="Arial"/>
              </a:rPr>
              <a:t>py -3 -m venv .venv</a:t>
            </a:r>
          </a:p>
          <a:p xmlns:a="http://schemas.openxmlformats.org/drawingml/2006/main">
            <a: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304A"/>
                </a:solidFill>
                <a:latin typeface="Arial"/>
                <a:ea typeface="Arial"/>
                <a:cs typeface="Arial"/>
              </a:rPr>
              <a:t>.\.venv\Scripts\python.exe -m pip install --upgrade pip</a:t>
            </a:r>
          </a:p>
          <a:p xmlns:a="http://schemas.openxmlformats.org/drawingml/2006/main">
            <a:pPr algn="l">
              <a:defRPr sz="15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304A"/>
                </a:solidFill>
                <a:latin typeface="Arial"/>
                <a:ea typeface="Arial"/>
                <a:cs typeface="Arial"/>
              </a:rPr>
              <a:t>.\.venv\Scripts\python.exe -m pip install -e ".[dev]"</a:t>
            </a:r>
          </a:p>
        </p:txBody>
      </p:sp>
      <p:sp>
        <p:nvSpPr>
          <p:cNvPr id="8" name="install-rule">
            <a:extLst xmlns:a="http://schemas.openxmlformats.org/drawingml/2006/main">
              <a:ext uri="{FF2B5EF4-FFF2-40B4-BE49-F238E27FC236}">
                <a16:creationId xmlns:a16="http://schemas.microsoft.com/office/drawing/2014/main" id="{3786AD90-5E99-440B-BC43-1EEACA9B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heck-heading">
            <a:extLst xmlns:a="http://schemas.openxmlformats.org/drawingml/2006/main">
              <a:ext uri="{FF2B5EF4-FFF2-40B4-BE49-F238E27FC236}">
                <a16:creationId xmlns:a16="http://schemas.microsoft.com/office/drawing/2014/main" id="{F639EFBA-5F41-45AB-9B8C-EE148553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로컬 검사</a:t>
            </a:r>
          </a:p>
        </p:txBody>
      </p:sp>
      <p:sp>
        <p:nvSpPr>
          <p:cNvPr id="10" name="check-commands">
            <a:extLst xmlns:a="http://schemas.openxmlformats.org/drawingml/2006/main">
              <a:ext uri="{FF2B5EF4-FFF2-40B4-BE49-F238E27FC236}">
                <a16:creationId xmlns:a16="http://schemas.microsoft.com/office/drawing/2014/main" id="{AAFB95C7-3BAD-4640-8EAE-92981632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00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.\.venv\Scripts\python.exe -m pytest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.\.venv\Scripts\ruff.exe check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또는 .\scripts\run_checks.ps1</a:t>
            </a:r>
          </a:p>
        </p:txBody>
      </p:sp>
      <p:sp>
        <p:nvSpPr>
          <p:cNvPr id="11" name="check-note">
            <a:extLst xmlns:a="http://schemas.openxmlformats.org/drawingml/2006/main">
              <a:ext uri="{FF2B5EF4-FFF2-40B4-BE49-F238E27FC236}">
                <a16:creationId xmlns:a16="http://schemas.microsoft.com/office/drawing/2014/main" id="{4E3FB5DC-9D69-478A-AF20-3D9FDCD0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테스트는 fixture와 mocked HTTP를 사용합니다. 이 명령은 기관 API를 호출하지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810982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ccent-4">
            <a:extLst xmlns:a="http://schemas.openxmlformats.org/drawingml/2006/main">
              <a:ext uri="{FF2B5EF4-FFF2-40B4-BE49-F238E27FC236}">
                <a16:creationId xmlns:a16="http://schemas.microsoft.com/office/drawing/2014/main" id="{86D39126-5F4D-42D7-B95D-992401B9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F8B35CB-7E77-4EC6-A970-6923F5AB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네트워크와 인증</a:t>
            </a:r>
          </a:p>
        </p:txBody>
      </p:sp>
      <p:sp>
        <p:nvSpPr>
          <p:cNvPr id="3" name="rule-4">
            <a:extLst xmlns:a="http://schemas.openxmlformats.org/drawingml/2006/main">
              <a:ext uri="{FF2B5EF4-FFF2-40B4-BE49-F238E27FC236}">
                <a16:creationId xmlns:a16="http://schemas.microsoft.com/office/drawing/2014/main" id="{8EB6A597-0113-43F5-A90A-E589DCF0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1B62AB02-FFD1-433F-99AA-4F5C5683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MacroAtlas    사용자 안내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B10A6F43-0D88-4332-B95D-745EF59E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103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F6A9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network-default">
            <a:extLst xmlns:a="http://schemas.openxmlformats.org/drawingml/2006/main">
              <a:ext uri="{FF2B5EF4-FFF2-40B4-BE49-F238E27FC236}">
                <a16:creationId xmlns:a16="http://schemas.microsoft.com/office/drawing/2014/main" id="{03DCE186-4132-4080-9B3B-DA5DCF33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F6A9B"/>
                </a:solidFill>
                <a:latin typeface="Arial"/>
                <a:ea typeface="Arial"/>
                <a:cs typeface="Arial"/>
              </a:rPr>
              <a:t>일반 기본 설정은 네트워크를 끕니다</a:t>
            </a:r>
          </a:p>
        </p:txBody>
      </p:sp>
      <p:sp>
        <p:nvSpPr>
          <p:cNvPr id="7" name="network-steps">
            <a:extLst xmlns:a="http://schemas.openxmlformats.org/drawingml/2006/main">
              <a:ext uri="{FF2B5EF4-FFF2-40B4-BE49-F238E27FC236}">
                <a16:creationId xmlns:a16="http://schemas.microsoft.com/office/drawing/2014/main" id="{618233C8-7CA3-44B0-AD18-8C6F0317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1   오프라인 테스트로 로컬 계약을 확인합니다</a:t>
            </a:r>
          </a:p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2   이용 조건과 네트워크 허용을 확인합니다</a:t>
            </a:r>
          </a:p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3   사용자가 --live 를 명시할 때만 고정 World Bank 요청이 시작됩니다</a:t>
            </a:r>
          </a:p>
        </p:txBody>
      </p:sp>
      <p:sp>
        <p:nvSpPr>
          <p:cNvPr id="8" name="network-code-bg">
            <a:extLst xmlns:a="http://schemas.openxmlformats.org/drawingml/2006/main">
              <a:ext uri="{FF2B5EF4-FFF2-40B4-BE49-F238E27FC236}">
                <a16:creationId xmlns:a16="http://schemas.microsoft.com/office/drawing/2014/main" id="{17A63E4E-5E74-4AF7-8472-D5F45381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057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etwork-command">
            <a:extLst xmlns:a="http://schemas.openxmlformats.org/drawingml/2006/main">
              <a:ext uri="{FF2B5EF4-FFF2-40B4-BE49-F238E27FC236}">
                <a16:creationId xmlns:a16="http://schemas.microsoft.com/office/drawing/2014/main" id="{BB023611-8B21-4370-81E7-E6F49E6E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2304A"/>
                </a:solidFill>
                <a:latin typeface="Arial"/>
                <a:ea typeface="Arial"/>
                <a:cs typeface="Arial"/>
              </a:rPr>
              <a:t>.\.venv\Scripts\python.exe -X utf8 scripts\verify_worldbank.py --live</a:t>
            </a:r>
          </a:p>
        </p:txBody>
      </p:sp>
      <p:sp>
        <p:nvSpPr>
          <p:cNvPr id="10" name="network-note">
            <a:extLst xmlns:a="http://schemas.openxmlformats.org/drawingml/2006/main">
              <a:ext uri="{FF2B5EF4-FFF2-40B4-BE49-F238E27FC236}">
                <a16:creationId xmlns:a16="http://schemas.microsoft.com/office/drawing/2014/main" id="{87B6C058-6C14-45FC-A1C2-A8D76C77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이 고정 경로에는 API 키가 필요하지 않습니다. .env.example의 IMF/BOK 이름은 주석 예시이며 해당 커넥터가 구현됐다는 뜻이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247864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cent-5">
            <a:extLst xmlns:a="http://schemas.openxmlformats.org/drawingml/2006/main">
              <a:ext uri="{FF2B5EF4-FFF2-40B4-BE49-F238E27FC236}">
                <a16:creationId xmlns:a16="http://schemas.microsoft.com/office/drawing/2014/main" id="{518A5A37-201A-4E33-B4D4-CC897E8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177878F2-4992-4816-A4B4-A0746AC0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수집 요청의 고정 조건</a:t>
            </a:r>
          </a:p>
        </p:txBody>
      </p:sp>
      <p:sp>
        <p:nvSpPr>
          <p:cNvPr id="3" name="rule-5">
            <a:extLst xmlns:a="http://schemas.openxmlformats.org/drawingml/2006/main">
              <a:ext uri="{FF2B5EF4-FFF2-40B4-BE49-F238E27FC236}">
                <a16:creationId xmlns:a16="http://schemas.microsoft.com/office/drawing/2014/main" id="{25AA86B6-C527-48A2-957F-5981B50F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5BE2729F-2077-4FD8-B018-CB01336B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MacroAtlas    사용자 안내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B0120054-A4CB-4D7E-A2DC-04B4EFF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103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F6A9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request-label-0">
            <a:extLst xmlns:a="http://schemas.openxmlformats.org/drawingml/2006/main">
              <a:ext uri="{FF2B5EF4-FFF2-40B4-BE49-F238E27FC236}">
                <a16:creationId xmlns:a16="http://schemas.microsoft.com/office/drawing/2014/main" id="{60022B23-5105-4964-8F9F-6CB98479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기관·국가</a:t>
            </a:r>
          </a:p>
        </p:txBody>
      </p:sp>
      <p:sp>
        <p:nvSpPr>
          <p:cNvPr id="7" name="request-value-0">
            <a:extLst xmlns:a="http://schemas.openxmlformats.org/drawingml/2006/main">
              <a:ext uri="{FF2B5EF4-FFF2-40B4-BE49-F238E27FC236}">
                <a16:creationId xmlns:a16="http://schemas.microsoft.com/office/drawing/2014/main" id="{0781DF53-9E06-4268-A9EA-C1AFEF15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478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World Bank Indicators API · USA</a:t>
            </a:r>
          </a:p>
        </p:txBody>
      </p:sp>
      <p:sp>
        <p:nvSpPr>
          <p:cNvPr id="8" name="request-line-0">
            <a:extLst xmlns:a="http://schemas.openxmlformats.org/drawingml/2006/main">
              <a:ext uri="{FF2B5EF4-FFF2-40B4-BE49-F238E27FC236}">
                <a16:creationId xmlns:a16="http://schemas.microsoft.com/office/drawing/2014/main" id="{63E4CA5E-5C91-4EDC-8577-4E29D79E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quest-label-1">
            <a:extLst xmlns:a="http://schemas.openxmlformats.org/drawingml/2006/main">
              <a:ext uri="{FF2B5EF4-FFF2-40B4-BE49-F238E27FC236}">
                <a16:creationId xmlns:a16="http://schemas.microsoft.com/office/drawing/2014/main" id="{04A8D385-58A3-487B-876C-16D09E3C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지표·출처</a:t>
            </a:r>
          </a:p>
        </p:txBody>
      </p:sp>
      <p:sp>
        <p:nvSpPr>
          <p:cNvPr id="10" name="request-value-1">
            <a:extLst xmlns:a="http://schemas.openxmlformats.org/drawingml/2006/main">
              <a:ext uri="{FF2B5EF4-FFF2-40B4-BE49-F238E27FC236}">
                <a16:creationId xmlns:a16="http://schemas.microsoft.com/office/drawing/2014/main" id="{75C7FC9A-EE83-4329-92EA-22C5ACBE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71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NY.GDP.MKTP.CD · WDI source 2</a:t>
            </a:r>
          </a:p>
        </p:txBody>
      </p:sp>
      <p:sp>
        <p:nvSpPr>
          <p:cNvPr id="11" name="request-line-1">
            <a:extLst xmlns:a="http://schemas.openxmlformats.org/drawingml/2006/main">
              <a:ext uri="{FF2B5EF4-FFF2-40B4-BE49-F238E27FC236}">
                <a16:creationId xmlns:a16="http://schemas.microsoft.com/office/drawing/2014/main" id="{090B17B3-43BB-48E3-9CB7-44B779ED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equest-label-2">
            <a:extLst xmlns:a="http://schemas.openxmlformats.org/drawingml/2006/main">
              <a:ext uri="{FF2B5EF4-FFF2-40B4-BE49-F238E27FC236}">
                <a16:creationId xmlns:a16="http://schemas.microsoft.com/office/drawing/2014/main" id="{7E04E6A7-700D-4C08-9550-93F67D3F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기간</a:t>
            </a:r>
          </a:p>
        </p:txBody>
      </p:sp>
      <p:sp>
        <p:nvSpPr>
          <p:cNvPr id="13" name="request-value-2">
            <a:extLst xmlns:a="http://schemas.openxmlformats.org/drawingml/2006/main">
              <a:ext uri="{FF2B5EF4-FFF2-40B4-BE49-F238E27FC236}">
                <a16:creationId xmlns:a16="http://schemas.microsoft.com/office/drawing/2014/main" id="{497E9978-E6E9-4174-A705-81B9D1A9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95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연속 1~10년 · 1960~2100</a:t>
            </a:r>
          </a:p>
        </p:txBody>
      </p:sp>
      <p:sp>
        <p:nvSpPr>
          <p:cNvPr id="14" name="request-line-2">
            <a:extLst xmlns:a="http://schemas.openxmlformats.org/drawingml/2006/main">
              <a:ext uri="{FF2B5EF4-FFF2-40B4-BE49-F238E27FC236}">
                <a16:creationId xmlns:a16="http://schemas.microsoft.com/office/drawing/2014/main" id="{5FD80800-89AC-4929-85C8-72700A98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quest-label-3">
            <a:extLst xmlns:a="http://schemas.openxmlformats.org/drawingml/2006/main">
              <a:ext uri="{FF2B5EF4-FFF2-40B4-BE49-F238E27FC236}">
                <a16:creationId xmlns:a16="http://schemas.microsoft.com/office/drawing/2014/main" id="{81208A00-20C3-47EF-B680-8066F4B1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파일</a:t>
            </a:r>
          </a:p>
        </p:txBody>
      </p:sp>
      <p:sp>
        <p:nvSpPr>
          <p:cNvPr id="16" name="request-value-3">
            <a:extLst xmlns:a="http://schemas.openxmlformats.org/drawingml/2006/main">
              <a:ext uri="{FF2B5EF4-FFF2-40B4-BE49-F238E27FC236}">
                <a16:creationId xmlns:a16="http://schemas.microsoft.com/office/drawing/2014/main" id="{0EA887C5-97CE-44F5-BDCE-5F50CFE0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6195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raw_json · 저장소 내부 raw 디렉터리</a:t>
            </a:r>
          </a:p>
        </p:txBody>
      </p:sp>
      <p:sp>
        <p:nvSpPr>
          <p:cNvPr id="17" name="request-line-3">
            <a:extLst xmlns:a="http://schemas.openxmlformats.org/drawingml/2006/main">
              <a:ext uri="{FF2B5EF4-FFF2-40B4-BE49-F238E27FC236}">
                <a16:creationId xmlns:a16="http://schemas.microsoft.com/office/drawing/2014/main" id="{6C71D4C9-BCE5-477F-AD39-D35495D4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quest-label-4">
            <a:extLst xmlns:a="http://schemas.openxmlformats.org/drawingml/2006/main">
              <a:ext uri="{FF2B5EF4-FFF2-40B4-BE49-F238E27FC236}">
                <a16:creationId xmlns:a16="http://schemas.microsoft.com/office/drawing/2014/main" id="{19DF59F7-74C3-40DD-8D78-FE09E98E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전달 방식</a:t>
            </a:r>
          </a:p>
        </p:txBody>
      </p:sp>
      <p:sp>
        <p:nvSpPr>
          <p:cNvPr id="19" name="request-value-4">
            <a:extLst xmlns:a="http://schemas.openxmlformats.org/drawingml/2006/main">
              <a:ext uri="{FF2B5EF4-FFF2-40B4-BE49-F238E27FC236}">
                <a16:creationId xmlns:a16="http://schemas.microsoft.com/office/drawing/2014/main" id="{68E2D871-80EE-4734-97E5-D67FB816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434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확인된 경로의 file / link / both 계약 일부</a:t>
            </a:r>
          </a:p>
        </p:txBody>
      </p:sp>
      <p:sp>
        <p:nvSpPr>
          <p:cNvPr id="20" name="request-limit">
            <a:extLst xmlns:a="http://schemas.openxmlformats.org/drawingml/2006/main">
              <a:ext uri="{FF2B5EF4-FFF2-40B4-BE49-F238E27FC236}">
                <a16:creationId xmlns:a16="http://schemas.microsoft.com/office/drawing/2014/main" id="{59BC8055-5FB6-424B-A0C9-2924F195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다른 국가·지표, CSV/XLSX 출력, 변형 필터, 자동 링크 검색은 고정 수집기가 지원하지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744043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cent-6">
            <a:extLst xmlns:a="http://schemas.openxmlformats.org/drawingml/2006/main">
              <a:ext uri="{FF2B5EF4-FFF2-40B4-BE49-F238E27FC236}">
                <a16:creationId xmlns:a16="http://schemas.microsoft.com/office/drawing/2014/main" id="{5B990425-3D6E-4B20-BA97-7C1BB037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8CDD8289-88B2-4A6E-AAAE-F162F355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저장 결과 확인</a:t>
            </a:r>
          </a:p>
        </p:txBody>
      </p:sp>
      <p:sp>
        <p:nvSpPr>
          <p:cNvPr id="3" name="rule-6">
            <a:extLst xmlns:a="http://schemas.openxmlformats.org/drawingml/2006/main">
              <a:ext uri="{FF2B5EF4-FFF2-40B4-BE49-F238E27FC236}">
                <a16:creationId xmlns:a16="http://schemas.microsoft.com/office/drawing/2014/main" id="{581245DB-1BD2-4ADC-B94F-60F226CC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4CFD26C0-5727-4067-9EEC-8F24FD25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MacroAtlas    사용자 안내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831CD1CA-8B7C-4539-BE5C-110CF72B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103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F6A9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output-path-raw">
            <a:extLst xmlns:a="http://schemas.openxmlformats.org/drawingml/2006/main">
              <a:ext uri="{FF2B5EF4-FFF2-40B4-BE49-F238E27FC236}">
                <a16:creationId xmlns:a16="http://schemas.microsoft.com/office/drawing/2014/main" id="{E778577B-569B-4120-82C8-C1E07DB9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원본 응답</a:t>
            </a:r>
          </a:p>
        </p:txBody>
      </p:sp>
      <p:sp>
        <p:nvSpPr>
          <p:cNvPr id="7" name="output-raw">
            <a:extLst xmlns:a="http://schemas.openxmlformats.org/drawingml/2006/main">
              <a:ext uri="{FF2B5EF4-FFF2-40B4-BE49-F238E27FC236}">
                <a16:creationId xmlns:a16="http://schemas.microsoft.com/office/drawing/2014/main" id="{53C789EC-3C0E-43AF-8862-BB88DDD7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40970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data\raw\worldbank\&lt;UUID&gt;\response.json</a:t>
            </a:r>
          </a:p>
        </p:txBody>
      </p:sp>
      <p:sp>
        <p:nvSpPr>
          <p:cNvPr id="8" name="output-path-manifest">
            <a:extLst xmlns:a="http://schemas.openxmlformats.org/drawingml/2006/main">
              <a:ext uri="{FF2B5EF4-FFF2-40B4-BE49-F238E27FC236}">
                <a16:creationId xmlns:a16="http://schemas.microsoft.com/office/drawing/2014/main" id="{04A35DFA-5F83-401B-90A9-3DBBF25E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요청 manifest</a:t>
            </a:r>
          </a:p>
        </p:txBody>
      </p:sp>
      <p:sp>
        <p:nvSpPr>
          <p:cNvPr id="9" name="output-manifest">
            <a:extLst xmlns:a="http://schemas.openxmlformats.org/drawingml/2006/main">
              <a:ext uri="{FF2B5EF4-FFF2-40B4-BE49-F238E27FC236}">
                <a16:creationId xmlns:a16="http://schemas.microsoft.com/office/drawing/2014/main" id="{6F10F0C9-E189-412D-BDE9-B0450667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57400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같은 폴더의 request.json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요청 URL · UTC 수집 시각 · 상태 · 크기 · 출처</a:t>
            </a:r>
          </a:p>
        </p:txBody>
      </p:sp>
      <p:sp>
        <p:nvSpPr>
          <p:cNvPr id="10" name="output-path-db">
            <a:extLst xmlns:a="http://schemas.openxmlformats.org/drawingml/2006/main">
              <a:ext uri="{FF2B5EF4-FFF2-40B4-BE49-F238E27FC236}">
                <a16:creationId xmlns:a16="http://schemas.microsoft.com/office/drawing/2014/main" id="{661A5051-25AC-4C3F-9BD1-945A87C0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작업 이력</a:t>
            </a:r>
          </a:p>
        </p:txBody>
      </p:sp>
      <p:sp>
        <p:nvSpPr>
          <p:cNvPr id="11" name="output-db">
            <a:extLst xmlns:a="http://schemas.openxmlformats.org/drawingml/2006/main">
              <a:ext uri="{FF2B5EF4-FFF2-40B4-BE49-F238E27FC236}">
                <a16:creationId xmlns:a16="http://schemas.microsoft.com/office/drawing/2014/main" id="{F643ECF0-9F1F-43C2-AC07-F3B387B6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289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data\catalog.sqlite</a:t>
            </a:r>
          </a:p>
        </p:txBody>
      </p:sp>
      <p:sp>
        <p:nvSpPr>
          <p:cNvPr id="12" name="output-path-report">
            <a:extLst xmlns:a="http://schemas.openxmlformats.org/drawingml/2006/main">
              <a:ext uri="{FF2B5EF4-FFF2-40B4-BE49-F238E27FC236}">
                <a16:creationId xmlns:a16="http://schemas.microsoft.com/office/drawing/2014/main" id="{7E41FFF7-768B-4285-80C3-F85C6D05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실행 보고서</a:t>
            </a:r>
          </a:p>
        </p:txBody>
      </p:sp>
      <p:sp>
        <p:nvSpPr>
          <p:cNvPr id="13" name="output-report">
            <a:extLst xmlns:a="http://schemas.openxmlformats.org/drawingml/2006/main">
              <a:ext uri="{FF2B5EF4-FFF2-40B4-BE49-F238E27FC236}">
                <a16:creationId xmlns:a16="http://schemas.microsoft.com/office/drawing/2014/main" id="{FC1BF76B-B985-4CA8-AE04-3ECFDD87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76650"/>
            <a:ext cx="7810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reports\iteration_03_live_*.json</a:t>
            </a:r>
          </a:p>
          <a:p xmlns:a="http://schemas.openxmlformats.org/drawingml/2006/main">
            <a: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reports\alignment_03_live_*.json</a:t>
            </a:r>
          </a:p>
          <a:p xmlns:a="http://schemas.openxmlformats.org/drawingml/2006/main">
            <a:pPr algn="l">
              <a:defRPr sz="127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reports\iteration_04_live_*.json (Gate A)</a:t>
            </a:r>
          </a:p>
        </p:txBody>
      </p:sp>
      <p:sp>
        <p:nvSpPr>
          <p:cNvPr id="14" name="output-note-bg">
            <a:extLst xmlns:a="http://schemas.openxmlformats.org/drawingml/2006/main">
              <a:ext uri="{FF2B5EF4-FFF2-40B4-BE49-F238E27FC236}">
                <a16:creationId xmlns:a16="http://schemas.microsoft.com/office/drawing/2014/main" id="{60D8B8F2-8B80-4490-B7F6-792E035E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1028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0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utput-note">
            <a:extLst xmlns:a="http://schemas.openxmlformats.org/drawingml/2006/main">
              <a:ext uri="{FF2B5EF4-FFF2-40B4-BE49-F238E27FC236}">
                <a16:creationId xmlns:a16="http://schemas.microsoft.com/office/drawing/2014/main" id="{3EEEDF47-3548-4E57-8F10-309DFE77E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816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원본 해시와 요청 조건을 대조하세요. source_last_updated 는 불변 vintage가 아니며 단위·주기 미상은 unknown으로 남습니다.</a:t>
            </a:r>
          </a:p>
        </p:txBody>
      </p:sp>
    </p:spTree>
    <p:extLst>
      <p:ext uri="{BB962C8B-B14F-4D97-AF65-F5344CB8AC3E}">
        <p14:creationId xmlns:p14="http://schemas.microsoft.com/office/powerpoint/2010/main" val="18728237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cent-7">
            <a:extLst xmlns:a="http://schemas.openxmlformats.org/drawingml/2006/main">
              <a:ext uri="{FF2B5EF4-FFF2-40B4-BE49-F238E27FC236}">
                <a16:creationId xmlns:a16="http://schemas.microsoft.com/office/drawing/2014/main" id="{1EBD6AF7-7677-4A74-BE3B-56EAAF94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996EDE13-B8E5-48FE-8973-0F52435A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오류 처리와 안전한 재개</a:t>
            </a:r>
          </a:p>
        </p:txBody>
      </p:sp>
      <p:sp>
        <p:nvSpPr>
          <p:cNvPr id="3" name="rule-7">
            <a:extLst xmlns:a="http://schemas.openxmlformats.org/drawingml/2006/main">
              <a:ext uri="{FF2B5EF4-FFF2-40B4-BE49-F238E27FC236}">
                <a16:creationId xmlns:a16="http://schemas.microsoft.com/office/drawing/2014/main" id="{15E48454-10D1-408E-B65E-911F5C95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14AA30B6-3C5E-4C21-B835-6B12186D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MacroAtlas    사용자 안내</a:t>
            </a:r>
          </a:p>
        </p:txBody>
      </p:sp>
      <p:sp>
        <p:nvSpPr>
          <p:cNvPr id="5" name="page-7">
            <a:extLst xmlns:a="http://schemas.openxmlformats.org/drawingml/2006/main">
              <a:ext uri="{FF2B5EF4-FFF2-40B4-BE49-F238E27FC236}">
                <a16:creationId xmlns:a16="http://schemas.microsoft.com/office/drawing/2014/main" id="{3AED19B9-DF99-498C-8B67-20373AFF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103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F6A9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recovery-rows">
            <a:extLst xmlns:a="http://schemas.openxmlformats.org/drawingml/2006/main">
              <a:ext uri="{FF2B5EF4-FFF2-40B4-BE49-F238E27FC236}">
                <a16:creationId xmlns:a16="http://schemas.microsoft.com/office/drawing/2014/main" id="{76C9C6DD-1F74-4B35-8970-660043EF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10334625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AUTH_ACCESS       인증·권한을 확인하고 우회하지 않습니다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LICENSE_SECURITY  리다이렉트·TLS·이용 조건을 검토합니다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SCHEMA_CHANGED    원본과 이전 스키마를 보존하고 구조를 대조합니다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TRANSIENT         재시도 가능 시각과 횟수 상한을 확인합니다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SITE_CHANGED      경로가 바뀐 것으로 보고 자동 대체하지 않습니다</a:t>
            </a:r>
          </a:p>
        </p:txBody>
      </p:sp>
      <p:sp>
        <p:nvSpPr>
          <p:cNvPr id="7" name="recovery-rule-bg">
            <a:extLst xmlns:a="http://schemas.openxmlformats.org/drawingml/2006/main">
              <a:ext uri="{FF2B5EF4-FFF2-40B4-BE49-F238E27FC236}">
                <a16:creationId xmlns:a16="http://schemas.microsoft.com/office/drawing/2014/main" id="{C7D3F0A5-A6E9-4D35-830B-8214E49C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0287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ecovery-rule">
            <a:extLst xmlns:a="http://schemas.openxmlformats.org/drawingml/2006/main">
              <a:ext uri="{FF2B5EF4-FFF2-40B4-BE49-F238E27FC236}">
                <a16:creationId xmlns:a16="http://schemas.microsoft.com/office/drawing/2014/main" id="{3D447EF1-13BA-4D30-A8B3-A264D9F8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386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같은 조건은 같은 작업에서 명시적으로 재개합니다. 조건이 바뀌면 새 작업을 만듭니다. 검증 실패 관측치는 분석에 사용하지 않습니다.</a:t>
            </a:r>
          </a:p>
        </p:txBody>
      </p:sp>
      <p:sp>
        <p:nvSpPr>
          <p:cNvPr id="9" name="recovery-limitation">
            <a:extLst xmlns:a="http://schemas.openxmlformats.org/drawingml/2006/main">
              <a:ext uri="{FF2B5EF4-FFF2-40B4-BE49-F238E27FC236}">
                <a16:creationId xmlns:a16="http://schemas.microsoft.com/office/drawing/2014/main" id="{B1DA0C92-34C8-410A-A8F2-C5F9A05F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완료된 raw 결과도 수동 편집하지 마세요. 결측은 0이 아니며, 재개는 통계 의미의 변경 승인이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2002078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cent-8">
            <a:extLst xmlns:a="http://schemas.openxmlformats.org/drawingml/2006/main">
              <a:ext uri="{FF2B5EF4-FFF2-40B4-BE49-F238E27FC236}">
                <a16:creationId xmlns:a16="http://schemas.microsoft.com/office/drawing/2014/main" id="{6EBF5E92-FB6E-4328-B963-62F2123B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2ED3EDCE-D528-4DC6-9710-DB23CCC0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대표 시나리오 A~H</a:t>
            </a:r>
          </a:p>
        </p:txBody>
      </p:sp>
      <p:sp>
        <p:nvSpPr>
          <p:cNvPr id="3" name="rule-8">
            <a:extLst xmlns:a="http://schemas.openxmlformats.org/drawingml/2006/main">
              <a:ext uri="{FF2B5EF4-FFF2-40B4-BE49-F238E27FC236}">
                <a16:creationId xmlns:a16="http://schemas.microsoft.com/office/drawing/2014/main" id="{C6011760-B7AC-48EA-88C2-4882A4FF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DD5EA4FC-4FE8-49D8-AEDF-C8864290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MacroAtlas    사용자 안내</a:t>
            </a:r>
          </a:p>
        </p:txBody>
      </p:sp>
      <p:sp>
        <p:nvSpPr>
          <p:cNvPr id="5" name="page-8">
            <a:extLst xmlns:a="http://schemas.openxmlformats.org/drawingml/2006/main">
              <a:ext uri="{FF2B5EF4-FFF2-40B4-BE49-F238E27FC236}">
                <a16:creationId xmlns:a16="http://schemas.microsoft.com/office/drawing/2014/main" id="{08314F2D-6522-468B-945C-60CCC77D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103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F6A9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scenario-disclaimer">
            <a:extLst xmlns:a="http://schemas.openxmlformats.org/drawingml/2006/main">
              <a:ext uri="{FF2B5EF4-FFF2-40B4-BE49-F238E27FC236}">
                <a16:creationId xmlns:a16="http://schemas.microsoft.com/office/drawing/2014/main" id="{D22B961E-7484-49B8-9A6B-3B7FB268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6A9B"/>
                </a:solidFill>
                <a:latin typeface="Arial"/>
                <a:ea typeface="Arial"/>
                <a:cs typeface="Arial"/>
              </a:rPr>
              <a:t>이번 Gate E에서 A~H live 실행은 없었습니다. 아래는 fixture·코드 범위입니다.</a:t>
            </a:r>
          </a:p>
        </p:txBody>
      </p:sp>
      <p:sp>
        <p:nvSpPr>
          <p:cNvPr id="7" name="scenario-list">
            <a:extLst xmlns:a="http://schemas.openxmlformats.org/drawingml/2006/main">
              <a:ext uri="{FF2B5EF4-FFF2-40B4-BE49-F238E27FC236}">
                <a16:creationId xmlns:a16="http://schemas.microsoft.com/office/drawing/2014/main" id="{53B12A8D-C19E-4593-8B27-2E889260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1042987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A  IMF              SDMX 메타데이터·검색 fixture 일부                 live 미실행</a:t>
            </a:r>
          </a:p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B  BIS              파일·ZIP·SDMX 파싱 fixture                         live 미실행</a:t>
            </a:r>
          </a:p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C  Treasury TIC     CSV·표 파싱 fixture                                live 미실행</a:t>
            </a:r>
          </a:p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D  BEA              해당 API adapter 없음                              미지원</a:t>
            </a:r>
          </a:p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E  ECB / Eurostat   일반 SDMX·카탈로그 fixture                         live 미실행</a:t>
            </a:r>
          </a:p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F  일본 기관        MOF·BOJ·e-Stat 커넥터 없음                         미지원</a:t>
            </a:r>
          </a:p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G  중국 기관        사이트 탐색 제한 fixture, 수집 미지원              live 미실행</a:t>
            </a:r>
          </a:p>
          <a:p xmlns:a="http://schemas.openxmlformats.org/drawingml/2006/main">
            <a:pPr algn="l">
              <a:defRPr sz="1200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H  OECD / World Bank  WB 고정 GDP 경로, 비교는 일부 fixture             전체 미검증</a:t>
            </a:r>
          </a:p>
        </p:txBody>
      </p:sp>
      <p:sp>
        <p:nvSpPr>
          <p:cNvPr id="8" name="scenario-note-bg">
            <a:extLst xmlns:a="http://schemas.openxmlformats.org/drawingml/2006/main">
              <a:ext uri="{FF2B5EF4-FFF2-40B4-BE49-F238E27FC236}">
                <a16:creationId xmlns:a16="http://schemas.microsoft.com/office/drawing/2014/main" id="{D0D532D5-4199-48E5-BDCA-B7981A52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cenario-note">
            <a:extLst xmlns:a="http://schemas.openxmlformats.org/drawingml/2006/main">
              <a:ext uri="{FF2B5EF4-FFF2-40B4-BE49-F238E27FC236}">
                <a16:creationId xmlns:a16="http://schemas.microsoft.com/office/drawing/2014/main" id="{C5174C3B-2A46-47BC-A663-B44CF57A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67275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304A"/>
                </a:solidFill>
                <a:latin typeface="Arial"/>
                <a:ea typeface="Arial"/>
                <a:cs typeface="Arial"/>
              </a:rPr>
              <a:t>기존 Gate A에서 World Bank USA GDP 고정 요청 1건을 live로 통과했습니다. 이는 전체 H나 다른 기관 지원을 뜻하지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835313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cent-9">
            <a:extLst xmlns:a="http://schemas.openxmlformats.org/drawingml/2006/main">
              <a:ext uri="{FF2B5EF4-FFF2-40B4-BE49-F238E27FC236}">
                <a16:creationId xmlns:a16="http://schemas.microsoft.com/office/drawing/2014/main" id="{925FB0DF-C0D4-4F15-9F6D-50BFA85B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7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520DC271-6EE2-41E1-89C3-A817D8E1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0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운영 전 마지막 점검</a:t>
            </a:r>
          </a:p>
        </p:txBody>
      </p:sp>
      <p:sp>
        <p:nvSpPr>
          <p:cNvPr id="3" name="rule-9">
            <a:extLst xmlns:a="http://schemas.openxmlformats.org/drawingml/2006/main">
              <a:ext uri="{FF2B5EF4-FFF2-40B4-BE49-F238E27FC236}">
                <a16:creationId xmlns:a16="http://schemas.microsoft.com/office/drawing/2014/main" id="{51AB9090-3130-4E2E-A68E-557ECE3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1B28AD2C-1EFE-4DD2-AEEC-7FCCB81D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MacroAtlas    사용자 안내</a:t>
            </a:r>
          </a:p>
        </p:txBody>
      </p:sp>
      <p:sp>
        <p:nvSpPr>
          <p:cNvPr id="5" name="page-9">
            <a:extLst xmlns:a="http://schemas.openxmlformats.org/drawingml/2006/main">
              <a:ext uri="{FF2B5EF4-FFF2-40B4-BE49-F238E27FC236}">
                <a16:creationId xmlns:a16="http://schemas.microsoft.com/office/drawing/2014/main" id="{61505535-EB70-4577-8B07-3237B4E0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103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1F6A9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F6A9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checklist">
            <a:extLst xmlns:a="http://schemas.openxmlformats.org/drawingml/2006/main">
              <a:ext uri="{FF2B5EF4-FFF2-40B4-BE49-F238E27FC236}">
                <a16:creationId xmlns:a16="http://schemas.microsoft.com/office/drawing/2014/main" id="{9CFB2321-D0AD-4416-8B49-9271EC85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103346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01   먼저 오프라인 테스트와 health check를 실행합니다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02   기관·지표·기간이 고정 지원 경로와 맞는지 확인합니다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03   이용 조건과 네트워크 정책을 확인한 뒤에만 --live 를 사용합니다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04   상태·관측 기간·출처·raw hash를 artifact와 대조합니다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B3A"/>
                </a:solidFill>
                <a:latin typeface="Arial"/>
                <a:ea typeface="Arial"/>
                <a:cs typeface="Arial"/>
              </a:rPr>
              <a:t>05   모호성이나 불일치가 남으면 데이터를 사용하기 전에 검토합니다</a:t>
            </a:r>
          </a:p>
        </p:txBody>
      </p:sp>
      <p:sp>
        <p:nvSpPr>
          <p:cNvPr id="7" name="checklist-rule">
            <a:extLst xmlns:a="http://schemas.openxmlformats.org/drawingml/2006/main">
              <a:ext uri="{FF2B5EF4-FFF2-40B4-BE49-F238E27FC236}">
                <a16:creationId xmlns:a16="http://schemas.microsoft.com/office/drawing/2014/main" id="{A683558F-96C8-4777-8F1C-51017063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hecklist-bottom">
            <a:extLst xmlns:a="http://schemas.openxmlformats.org/drawingml/2006/main">
              <a:ext uri="{FF2B5EF4-FFF2-40B4-BE49-F238E27FC236}">
                <a16:creationId xmlns:a16="http://schemas.microsoft.com/office/drawing/2014/main" id="{889D4978-85DB-4530-99F0-AEDFFFA4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6827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827C"/>
                </a:solidFill>
                <a:latin typeface="Arial"/>
                <a:ea typeface="Arial"/>
                <a:cs typeface="Arial"/>
              </a:rPr>
              <a:t>현재 제품에는 다기관 범용 CLI가 없습니다. 미지원 경로를 다른 기관이나 지표로 조용히 대체하지 마세요.</a:t>
            </a:r>
          </a:p>
        </p:txBody>
      </p:sp>
      <p:sp>
        <p:nvSpPr>
          <p:cNvPr id="9" name="checklist-source">
            <a:extLst xmlns:a="http://schemas.openxmlformats.org/drawingml/2006/main">
              <a:ext uri="{FF2B5EF4-FFF2-40B4-BE49-F238E27FC236}">
                <a16:creationId xmlns:a16="http://schemas.microsoft.com/office/drawing/2014/main" id="{868C032D-8B58-4419-9B37-7FFE39E4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267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8"/>
                </a:solidFill>
                <a:latin typeface="Arial"/>
                <a:ea typeface="Arial"/>
                <a:cs typeface="Arial"/>
              </a:rPr>
              <a:t>상세 절차, 오류 분류와 기관별 한계는 저장소의 docs/USER_GUIDE.md 및 회차별 보고서에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0998418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2026-10-25T02:17:17.0970000Z</dcterms:created>
  <dcterms:modified xsi:type="dcterms:W3CDTF">2026-10-25T02:17:17.0970000Z</dcterms:modified>
</coreProperties>
</file>