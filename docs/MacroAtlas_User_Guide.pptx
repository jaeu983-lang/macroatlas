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731520"/>
            <a:ext cx="109728" cy="530352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143000"/>
            <a:ext cx="9875520" cy="8229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MacroAtlas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29968"/>
            <a:ext cx="8961120" cy="5943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2800" b="1">
                <a:solidFill>
                  <a:srgbClr val="B8D3DE"/>
                </a:solidFill>
                <a:latin typeface="Malgun Gothic"/>
              </a:rPr>
              <a:t>사용자 안내서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971800"/>
            <a:ext cx="9418320" cy="50292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Malgun Gothic"/>
              </a:rPr>
              <a:t>공식 출처 · 원본 보존 · 제한 범위 수집과 검토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650992"/>
            <a:ext cx="7315200" cy="32004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B8D3DE"/>
                </a:solidFill>
                <a:latin typeface="Malgun Gothic"/>
              </a:rPr>
              <a:t>2026-10-26  |  제한 범위 로컬 v1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698480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algun Gothic"/>
              </a:rPr>
              <a:t>현재 버전에서 할 수 있는 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5E6E83"/>
                </a:solidFill>
                <a:latin typeface="Malgun Gothic"/>
              </a:rPr>
              <a:t>MACROATLAS  ·  제한 범위 로컬 v1  ·  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1109960" y="6528816"/>
            <a:ext cx="512064" cy="54864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143000"/>
            <a:ext cx="53949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143000"/>
            <a:ext cx="73152" cy="182880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" y="1252728"/>
            <a:ext cx="49834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확인된 경로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1700784"/>
            <a:ext cx="4956048" cy="11704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600" b="0">
                <a:solidFill>
                  <a:srgbClr val="273448"/>
                </a:solidFill>
                <a:latin typeface="Malgun Gothic"/>
              </a:rPr>
              <a:t>World Bank WDI의 미국 GDP 고정 검증 요청을 실행하고 원본·manifest·검증 결과를 저장합니다.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143000"/>
            <a:ext cx="53949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9632" y="1143000"/>
            <a:ext cx="73152" cy="182880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1252728"/>
            <a:ext cx="49834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연결 부품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1700784"/>
            <a:ext cx="4956048" cy="11704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600" b="0">
                <a:solidFill>
                  <a:srgbClr val="273448"/>
                </a:solidFill>
                <a:latin typeface="Malgun Gothic"/>
              </a:rPr>
              <a:t>BLS/Census 제한 API, 표 파일 파서, 피드백 저장·조회와 읽기 전용 반복 패턴 분석기가 있습니다.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246120"/>
            <a:ext cx="53949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3246120"/>
            <a:ext cx="73152" cy="1828800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3355848"/>
            <a:ext cx="49834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범위 제한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" y="3803904"/>
            <a:ext cx="4956048" cy="11704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600" b="0">
                <a:solidFill>
                  <a:srgbClr val="273448"/>
                </a:solidFill>
                <a:latin typeface="Malgun Gothic"/>
              </a:rPr>
              <a:t>일반 자연어 검색 CLI, 모든 기관의 end-to-end 수집, CSV/XLSX exporter, 자동 스케줄러는 없습니다.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3246120"/>
            <a:ext cx="53949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9632" y="3246120"/>
            <a:ext cx="73152" cy="1828800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3355848"/>
            <a:ext cx="49834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기관 상태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3803904"/>
            <a:ext cx="4956048" cy="11704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600" b="0">
                <a:solidFill>
                  <a:srgbClr val="273448"/>
                </a:solidFill>
                <a:latin typeface="Malgun Gothic"/>
              </a:rPr>
              <a:t>BIS/TIC은 명시 파일 intake, BOJ는 API smoke만 확인했습니다. 부분 확인은 기관 전체 지원을 뜻하지 않습니다.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698480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algun Gothic"/>
              </a:rPr>
              <a:t>안전한 수집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5E6E83"/>
                </a:solidFill>
                <a:latin typeface="Malgun Gothic"/>
              </a:rPr>
              <a:t>MACROATLAS  ·  제한 범위 로컬 v1  ·  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1109960" y="6528816"/>
            <a:ext cx="512064" cy="54864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2057400"/>
            <a:ext cx="2084831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57400"/>
            <a:ext cx="73152" cy="196596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67128"/>
            <a:ext cx="1673351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요청 범위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615184"/>
            <a:ext cx="1645919" cy="13075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기관·지표·국가·기간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399032"/>
            <a:ext cx="1874519" cy="4114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2300" b="1">
                <a:solidFill>
                  <a:srgbClr val="17817B"/>
                </a:solidFill>
                <a:latin typeface="Malgun Gothi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39" y="2697480"/>
            <a:ext cx="228600" cy="3657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2200" b="1">
                <a:solidFill>
                  <a:srgbClr val="5E6E83"/>
                </a:solidFill>
                <a:latin typeface="Malgun Gothic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62072" y="2057400"/>
            <a:ext cx="2084831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62072" y="2057400"/>
            <a:ext cx="73152" cy="196596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81528" y="2167128"/>
            <a:ext cx="1673351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근거와 선택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615184"/>
            <a:ext cx="1645919" cy="13075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정의와 후보를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1399032"/>
            <a:ext cx="1874519" cy="4114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2300" b="1">
                <a:solidFill>
                  <a:srgbClr val="17817B"/>
                </a:solidFill>
                <a:latin typeface="Malgun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2697480"/>
            <a:ext cx="228600" cy="3657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2200" b="1">
                <a:solidFill>
                  <a:srgbClr val="5E6E83"/>
                </a:solidFill>
                <a:latin typeface="Malgun Gothic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21224" y="2057400"/>
            <a:ext cx="2084831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21224" y="2057400"/>
            <a:ext cx="73152" cy="196596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0680" y="2167128"/>
            <a:ext cx="1673351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명시 수집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2615184"/>
            <a:ext cx="1645919" cy="13075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고정 경로·호출 한도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0952" y="1399032"/>
            <a:ext cx="1874519" cy="4114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2300" b="1">
                <a:solidFill>
                  <a:srgbClr val="17817B"/>
                </a:solidFill>
                <a:latin typeface="Malgun Gothic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24344" y="2697480"/>
            <a:ext cx="228600" cy="3657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2200" b="1">
                <a:solidFill>
                  <a:srgbClr val="5E6E83"/>
                </a:solidFill>
                <a:latin typeface="Malgun Gothic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80376" y="2057400"/>
            <a:ext cx="2084831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580376" y="2057400"/>
            <a:ext cx="73152" cy="196596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99832" y="2167128"/>
            <a:ext cx="1673351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보존·검증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9832" y="2615184"/>
            <a:ext cx="1645919" cy="13075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raw, manifest, hash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0104" y="1399032"/>
            <a:ext cx="1874519" cy="4114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2300" b="1">
                <a:solidFill>
                  <a:srgbClr val="17817B"/>
                </a:solidFill>
                <a:latin typeface="Malgun Gothic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83496" y="2697480"/>
            <a:ext cx="228600" cy="3657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2200" b="1">
                <a:solidFill>
                  <a:srgbClr val="5E6E83"/>
                </a:solidFill>
                <a:latin typeface="Malgun Gothic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39528" y="2057400"/>
            <a:ext cx="2084831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939528" y="2057400"/>
            <a:ext cx="73152" cy="1965960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58984" y="2167128"/>
            <a:ext cx="1673351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검토·기록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58984" y="2615184"/>
            <a:ext cx="1645919" cy="13075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불확실성은 유지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9256" y="1399032"/>
            <a:ext cx="1874519" cy="4114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2300" b="1">
                <a:solidFill>
                  <a:srgbClr val="E17C43"/>
                </a:solidFill>
                <a:latin typeface="Malgun Gothic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709160"/>
            <a:ext cx="10607040" cy="566928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1900" b="1">
                <a:solidFill>
                  <a:srgbClr val="14223B"/>
                </a:solidFill>
                <a:latin typeface="Malgun Gothic"/>
              </a:rPr>
              <a:t>불확실한 후보·정의·권한은 확인 전 자동 수집하지 않습니다.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698480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algun Gothic"/>
              </a:rPr>
              <a:t>대표 live 검증 명령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5E6E83"/>
                </a:solidFill>
                <a:latin typeface="Malgun Gothic"/>
              </a:rPr>
              <a:t>MACROATLAS  ·  제한 범위 로컬 v1  ·  04</a:t>
            </a:r>
          </a:p>
        </p:txBody>
      </p:sp>
      <p:sp>
        <p:nvSpPr>
          <p:cNvPr id="5" name="Rectangle 4"/>
          <p:cNvSpPr/>
          <p:nvPr/>
        </p:nvSpPr>
        <p:spPr>
          <a:xfrm>
            <a:off x="11109960" y="6528816"/>
            <a:ext cx="512064" cy="54864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325880"/>
            <a:ext cx="10789920" cy="960120"/>
          </a:xfrm>
          <a:prstGeom prst="roundRect">
            <a:avLst/>
          </a:prstGeom>
          <a:solidFill>
            <a:srgbClr val="14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10241280" cy="50292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onsolas"/>
              </a:rPr>
              <a:t>python scripts/verify_worldbank.py --live --gate-a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843784"/>
            <a:ext cx="91440" cy="9144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697480"/>
            <a:ext cx="10021824" cy="59436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73448"/>
                </a:solidFill>
                <a:latin typeface="Malgun Gothic"/>
              </a:rPr>
              <a:t>이 명령은 고정된 USA · WDI source 2 · NY.GDP.MKTP.CD · 2020–2022 요청 한 건만 실행합니다.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666744"/>
            <a:ext cx="91440" cy="9144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3520440"/>
            <a:ext cx="10021824" cy="59436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73448"/>
                </a:solidFill>
                <a:latin typeface="Malgun Gothic"/>
              </a:rPr>
              <a:t>종료 코드 0, task COMPLETED, live_path_passed=true, validation passed를 확인합니다.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4489704"/>
            <a:ext cx="91440" cy="91440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4343400"/>
            <a:ext cx="10021824" cy="59436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73448"/>
                </a:solidFill>
                <a:latin typeface="Malgun Gothic"/>
              </a:rPr>
              <a:t>단위·빈도가 원문에서 확인되지 않으면 unknown으로 남습니다. 경고와 미검사 항목도 읽으세요.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349240"/>
            <a:ext cx="10241280" cy="45720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1400" b="0">
                <a:solidFill>
                  <a:srgbClr val="5E6E83"/>
                </a:solidFill>
                <a:latin typeface="Malgun Gothic"/>
              </a:rPr>
              <a:t>자동 재시도 없음 · redirect 차단 · TLS 검증 · 5/20초 timeout · 1 MiB 응답 상한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698480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algun Gothic"/>
              </a:rPr>
              <a:t>저장 결과와 확인 위치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5E6E83"/>
                </a:solidFill>
                <a:latin typeface="Malgun Gothic"/>
              </a:rPr>
              <a:t>MACROATLAS  ·  제한 범위 로컬 v1  ·  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1109960" y="6528816"/>
            <a:ext cx="512064" cy="54864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325880"/>
            <a:ext cx="5394960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325880"/>
            <a:ext cx="73152" cy="1874519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" y="1435607"/>
            <a:ext cx="49834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원본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1883664"/>
            <a:ext cx="4956048" cy="1216151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data/raw/worldbank/&lt;id&gt;/response.json
요청·출처·시각·hash manifest: request.json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325880"/>
            <a:ext cx="5394960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9632" y="1325880"/>
            <a:ext cx="73152" cy="1874519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1435607"/>
            <a:ext cx="49834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이력과 검사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1883664"/>
            <a:ext cx="4956048" cy="1216151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data/catalog.sqlite
Task / stage 이벤트, Gate A validation과 정규화 observation을 보관합니다.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520440"/>
            <a:ext cx="5394960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3520440"/>
            <a:ext cx="73152" cy="1874519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3630168"/>
            <a:ext cx="49834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실행 요약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" y="4078224"/>
            <a:ext cx="4956048" cy="1216151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reports/iteration_04_live_&lt;id&gt;.json
상태·정규화 경고·source URL·artifact id를 확인합니다.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3520440"/>
            <a:ext cx="5394960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9632" y="3520440"/>
            <a:ext cx="73152" cy="1874519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3630168"/>
            <a:ext cx="49834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자료 의미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4078224"/>
            <a:ext cx="4956048" cy="1216151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0과 null은 다릅니다. 원본에 없는 unit/frequency를 채우거나 cross-source 동등성을 가정하지 않습니다.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698480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algun Gothic"/>
              </a:rPr>
              <a:t>API 키와 네트워크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5E6E83"/>
                </a:solidFill>
                <a:latin typeface="Malgun Gothic"/>
              </a:rPr>
              <a:t>MACROATLAS  ·  제한 범위 로컬 v1  ·  06</a:t>
            </a:r>
          </a:p>
        </p:txBody>
      </p:sp>
      <p:sp>
        <p:nvSpPr>
          <p:cNvPr id="5" name="Rectangle 4"/>
          <p:cNvSpPr/>
          <p:nvPr/>
        </p:nvSpPr>
        <p:spPr>
          <a:xfrm>
            <a:off x="11109960" y="6528816"/>
            <a:ext cx="512064" cy="54864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234440"/>
            <a:ext cx="3520440" cy="1508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73152" cy="150876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" y="1344168"/>
            <a:ext cx="310896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키 불필요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1792224"/>
            <a:ext cx="3081528" cy="8503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World Bank의 이 고정 WDI query는 공개 API를 사용합니다.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234440"/>
            <a:ext cx="3520440" cy="1508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5112" y="1234440"/>
            <a:ext cx="73152" cy="150876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1344168"/>
            <a:ext cx="310896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선택적 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1792224"/>
            <a:ext cx="3081528" cy="8503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BLS_API_KEY는 일반 series-data 조회에서 선택 사항입니다. 일부 catalogue path는 등록 키가 필요합니다.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234440"/>
            <a:ext cx="3520440" cy="1508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234440"/>
            <a:ext cx="73152" cy="1508760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6176" y="1344168"/>
            <a:ext cx="310896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필수 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6" y="1792224"/>
            <a:ext cx="3081528" cy="8503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CENSUS_API_KEY는 지원된 ACS query 경로에서 필요합니다.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3483864"/>
            <a:ext cx="91440" cy="9144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8136" y="3337560"/>
            <a:ext cx="10113264" cy="68580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73448"/>
                </a:solidFill>
                <a:latin typeface="Malgun Gothic"/>
              </a:rPr>
              <a:t>필요한 기관의 키만 승인된 secret manager 또는 환경변수로 전달하세요. 실제 키를 문서·Git·채팅에 넣지 않습니다.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4398264"/>
            <a:ext cx="91440" cy="9144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4251960"/>
            <a:ext cx="10113264" cy="68580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73448"/>
                </a:solidFill>
                <a:latin typeface="Malgun Gothic"/>
              </a:rPr>
              <a:t>프로젝트는 .env를 자동으로 읽지 않습니다. key가 설정되어 있다는 사실만으로 인증 성공을 판단하지 않습니다.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5312664"/>
            <a:ext cx="91440" cy="91440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" y="5166360"/>
            <a:ext cx="10113264" cy="68580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73448"/>
                </a:solidFill>
                <a:latin typeface="Malgun Gothic"/>
              </a:rPr>
              <a:t>외부 요청은 설정된 프록시와 CA 신뢰를 사용하고 TLS 검증을 유지합니다. 프록시 우회나 인증 우회는 하지 않습니다.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698480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algun Gothic"/>
              </a:rPr>
              <a:t>오류를 안전하게 다루기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5E6E83"/>
                </a:solidFill>
                <a:latin typeface="Malgun Gothic"/>
              </a:rPr>
              <a:t>MACROATLAS  ·  제한 범위 로컬 v1  ·  07</a:t>
            </a:r>
          </a:p>
        </p:txBody>
      </p:sp>
      <p:sp>
        <p:nvSpPr>
          <p:cNvPr id="5" name="Rectangle 4"/>
          <p:cNvSpPr/>
          <p:nvPr/>
        </p:nvSpPr>
        <p:spPr>
          <a:xfrm>
            <a:off x="11109960" y="6528816"/>
            <a:ext cx="512064" cy="54864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325880"/>
            <a:ext cx="539496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325880"/>
            <a:ext cx="73152" cy="1645920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" y="1435607"/>
            <a:ext cx="49834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FAILED_RETRYABLE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1883664"/>
            <a:ext cx="4956048" cy="98755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같은 task와 범위를 확인합니다. Retry-After가 있으면 대기 후 명시적 resume. 자동 재시도 없음.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325880"/>
            <a:ext cx="539496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9632" y="1325880"/>
            <a:ext cx="73152" cy="1645920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1435607"/>
            <a:ext cx="49834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NEEDS_REVIEW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1883664"/>
            <a:ext cx="4956048" cy="98755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권한·schema·의미·품질을 먼저 검토합니다. 검토를 건너뛰어 강제 resume하지 않습니다.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337560"/>
            <a:ext cx="539496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3337560"/>
            <a:ext cx="73152" cy="164592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3447288"/>
            <a:ext cx="49834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변경된 원본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" y="3895344"/>
            <a:ext cx="4956048" cy="98755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양쪽 raw를 보존합니다. 같은 scope에서 changed/NEEDS_REVIEW면 승인 전 normalized 출력이 차단됩니다.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3337560"/>
            <a:ext cx="539496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9632" y="3337560"/>
            <a:ext cx="73152" cy="164592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3447288"/>
            <a:ext cx="49834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손상 방지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3895344"/>
            <a:ext cx="4956048" cy="98755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이전 유효 결과를 덮어쓰지 않고 failed stage부터 재개합니다. 자연 provider failure와 simulated fixture 증거를 구분합니다.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698480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algun Gothic"/>
              </a:rPr>
              <a:t>피드백과 검토용 제안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5E6E83"/>
                </a:solidFill>
                <a:latin typeface="Malgun Gothic"/>
              </a:rPr>
              <a:t>MACROATLAS  ·  제한 범위 로컬 v1  ·  08</a:t>
            </a:r>
          </a:p>
        </p:txBody>
      </p:sp>
      <p:sp>
        <p:nvSpPr>
          <p:cNvPr id="5" name="Rectangle 4"/>
          <p:cNvSpPr/>
          <p:nvPr/>
        </p:nvSpPr>
        <p:spPr>
          <a:xfrm>
            <a:off x="11109960" y="6528816"/>
            <a:ext cx="512064" cy="54864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234440"/>
            <a:ext cx="10789920" cy="685800"/>
          </a:xfrm>
          <a:prstGeom prst="roundRect">
            <a:avLst/>
          </a:prstGeom>
          <a:solidFill>
            <a:srgbClr val="14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99032"/>
            <a:ext cx="10241280" cy="34747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onsolas"/>
              </a:rPr>
              <a:t>python -m macro_data_platform.feedback_cli --project-root . --help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240280"/>
            <a:ext cx="10789920" cy="685800"/>
          </a:xfrm>
          <a:prstGeom prst="roundRect">
            <a:avLst/>
          </a:prstGeom>
          <a:solidFill>
            <a:srgbClr val="14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04872"/>
            <a:ext cx="10241280" cy="34747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python -m macro_data_platform.pattern_cli --project-root 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483864"/>
            <a:ext cx="91440" cy="9144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3337560"/>
            <a:ext cx="10021824" cy="5029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73448"/>
                </a:solidFill>
                <a:latin typeface="Malgun Gothic"/>
              </a:rPr>
              <a:t>피드백은 기존 task에 연결되고 새 레코드는 자동 승인되지 않습니다.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4215384"/>
            <a:ext cx="91440" cy="9144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4069080"/>
            <a:ext cx="10021824" cy="65836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73448"/>
                </a:solidFill>
                <a:latin typeface="Malgun Gothic"/>
              </a:rPr>
              <a:t>반복 패턴 도구는 SQLite read-only 분석입니다. 제안은 draft이며 승인·코드 수정·자동 적용을 하지 않습니다.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5129784"/>
            <a:ext cx="91440" cy="91440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4983480"/>
            <a:ext cx="10021824" cy="54864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73448"/>
                </a:solidFill>
                <a:latin typeface="Malgun Gothic"/>
              </a:rPr>
              <a:t>다른 task 3개 미만, 범위 불일치, 미검토 피드백은 같은 반복 후보로 합치지 않습니다.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698480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algun Gothic"/>
              </a:rPr>
              <a:t>기관 시나리오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5E6E83"/>
                </a:solidFill>
                <a:latin typeface="Malgun Gothic"/>
              </a:rPr>
              <a:t>MACROATLAS  ·  제한 범위 로컬 v1  ·  09</a:t>
            </a:r>
          </a:p>
        </p:txBody>
      </p:sp>
      <p:sp>
        <p:nvSpPr>
          <p:cNvPr id="5" name="Rectangle 4"/>
          <p:cNvSpPr/>
          <p:nvPr/>
        </p:nvSpPr>
        <p:spPr>
          <a:xfrm>
            <a:off x="11109960" y="6528816"/>
            <a:ext cx="512064" cy="54864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143000"/>
            <a:ext cx="3794760" cy="9326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143000"/>
            <a:ext cx="73152" cy="932688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252728"/>
            <a:ext cx="33832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A IMF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1700784"/>
            <a:ext cx="3355848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73448"/>
                </a:solidFill>
                <a:latin typeface="Malgun Gothic"/>
              </a:rPr>
              <a:t>live SDMX/dataflow 미지원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2" y="1344168"/>
            <a:ext cx="1325880" cy="3657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E17C43"/>
                </a:solidFill>
                <a:latin typeface="Malgun Gothic"/>
              </a:rPr>
              <a:t>BLOCKED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143000"/>
            <a:ext cx="3794760" cy="9326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143000"/>
            <a:ext cx="73152" cy="932688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1656" y="1252728"/>
            <a:ext cx="33832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B BIS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1700784"/>
            <a:ext cx="3355848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73448"/>
                </a:solidFill>
                <a:latin typeface="Malgun Gothic"/>
              </a:rPr>
              <a:t>bulk file intake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31552" y="1344168"/>
            <a:ext cx="1325880" cy="3657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17817B"/>
                </a:solidFill>
                <a:latin typeface="Malgun Gothic"/>
              </a:rPr>
              <a:t>PARTIAL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313432"/>
            <a:ext cx="3794760" cy="9326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2313432"/>
            <a:ext cx="73152" cy="932688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2423160"/>
            <a:ext cx="33832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C 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2871216"/>
            <a:ext cx="3355848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73448"/>
                </a:solidFill>
                <a:latin typeface="Malgun Gothic"/>
              </a:rPr>
              <a:t>명시 파일·통제 변경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9432" y="2514600"/>
            <a:ext cx="1325880" cy="3657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17817B"/>
                </a:solidFill>
                <a:latin typeface="Malgun Gothic"/>
              </a:rPr>
              <a:t>PARTIAL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13432"/>
            <a:ext cx="3794760" cy="9326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2313432"/>
            <a:ext cx="73152" cy="932688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6" y="2423160"/>
            <a:ext cx="33832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D BEA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1656" y="2871216"/>
            <a:ext cx="3355848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73448"/>
                </a:solidFill>
                <a:latin typeface="Malgun Gothic"/>
              </a:rPr>
              <a:t>connector 미지원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31552" y="2514600"/>
            <a:ext cx="1325880" cy="3657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E17C43"/>
                </a:solidFill>
                <a:latin typeface="Malgun Gothic"/>
              </a:rPr>
              <a:t>BLOCKED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3483864"/>
            <a:ext cx="3794760" cy="9326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3483864"/>
            <a:ext cx="73152" cy="932688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3593592"/>
            <a:ext cx="33832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E ECB/Eurostat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4041648"/>
            <a:ext cx="3355848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73448"/>
                </a:solidFill>
                <a:latin typeface="Malgun Gothic"/>
              </a:rPr>
              <a:t>end-to-end 미지원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99432" y="3685032"/>
            <a:ext cx="1325880" cy="3657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E17C43"/>
                </a:solidFill>
                <a:latin typeface="Malgun Gothic"/>
              </a:rPr>
              <a:t>BLOCKED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3483864"/>
            <a:ext cx="3794760" cy="9326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72200" y="3483864"/>
            <a:ext cx="73152" cy="932688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91656" y="3593592"/>
            <a:ext cx="33832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F Japan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91656" y="4041648"/>
            <a:ext cx="3355848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73448"/>
                </a:solidFill>
                <a:latin typeface="Malgun Gothic"/>
              </a:rPr>
              <a:t>BOJ API smoke only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31552" y="3685032"/>
            <a:ext cx="1325880" cy="3657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17817B"/>
                </a:solidFill>
                <a:latin typeface="Malgun Gothic"/>
              </a:rPr>
              <a:t>PARTIAL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4654296"/>
            <a:ext cx="3794760" cy="9326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" y="4654296"/>
            <a:ext cx="73152" cy="932688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9536" y="4764024"/>
            <a:ext cx="33832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G China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9536" y="5212080"/>
            <a:ext cx="3355848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73448"/>
                </a:solidFill>
                <a:latin typeface="Malgun Gothic"/>
              </a:rPr>
              <a:t>미지원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99432" y="4855464"/>
            <a:ext cx="1325880" cy="3657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E17C43"/>
                </a:solidFill>
                <a:latin typeface="Malgun Gothic"/>
              </a:rPr>
              <a:t>BLOCKED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72200" y="4654296"/>
            <a:ext cx="3794760" cy="9326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72200" y="4654296"/>
            <a:ext cx="73152" cy="932688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1656" y="4764024"/>
            <a:ext cx="33832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H World Bank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91656" y="5212080"/>
            <a:ext cx="3355848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73448"/>
                </a:solidFill>
                <a:latin typeface="Malgun Gothic"/>
              </a:rPr>
              <a:t>고정 USA GDP 경로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31552" y="4855464"/>
            <a:ext cx="1325880" cy="3657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17817B"/>
                </a:solidFill>
                <a:latin typeface="Malgun Gothic"/>
              </a:rPr>
              <a:t>PARTIAL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" y="5989320"/>
            <a:ext cx="10332720" cy="310896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1300" b="0">
                <a:solidFill>
                  <a:srgbClr val="5E6E83"/>
                </a:solidFill>
                <a:latin typeface="Malgun Gothic"/>
              </a:rPr>
              <a:t>PARTIAL은 그 제한 경로만 확인됐다는 뜻입니다. 남은 경로는 문서에 BLOCKED/NOT_RUN으로 표시합니다.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698480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algun Gothic"/>
              </a:rPr>
              <a:t>제한 범위 v1의 경계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5E6E83"/>
                </a:solidFill>
                <a:latin typeface="Malgun Gothic"/>
              </a:rPr>
              <a:t>MACROATLAS  ·  제한 범위 로컬 v1  · 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11109960" y="6528816"/>
            <a:ext cx="512064" cy="54864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426463"/>
            <a:ext cx="91440" cy="9144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" y="1280160"/>
            <a:ext cx="10296144" cy="64008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73448"/>
                </a:solidFill>
                <a:latin typeface="Malgun Gothic"/>
              </a:rPr>
              <a:t>Gate A/B/C/D의 현재 제한 판정과 Gate E 보고서는 docs/IMPLEMENTATION_PLAN.md 및 회차 보고서를 따릅니다.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386584"/>
            <a:ext cx="91440" cy="91440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240280"/>
            <a:ext cx="10296144" cy="64008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73448"/>
                </a:solidFill>
                <a:latin typeface="Malgun Gothic"/>
              </a:rPr>
              <a:t>실제 TIC/BIS source revision과 자연 provider failure → durable resume는 여전히 확인되지 않았습니다.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346704"/>
            <a:ext cx="91440" cy="9144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3200400"/>
            <a:ext cx="10296144" cy="64008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73448"/>
                </a:solidFill>
                <a:latin typeface="Malgun Gothic"/>
              </a:rPr>
              <a:t>BOJ direct smoke는 collector·Orchestrator 통합이나 기관 전반 지원을 뜻하지 않습니다.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306824"/>
            <a:ext cx="91440" cy="9144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4160520"/>
            <a:ext cx="10296144" cy="7315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73448"/>
                </a:solidFill>
                <a:latin typeface="Malgun Gothic"/>
              </a:rPr>
              <a:t>A–H 부분·미지원 경로는 자동으로 완료 처리하지 않습니다. 출처·정의·권한이 불확실하면 검토 상태를 유지합니다.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257800"/>
            <a:ext cx="10515600" cy="658368"/>
          </a:xfrm>
          <a:prstGeom prst="round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394960"/>
            <a:ext cx="10149840" cy="3657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</a:rPr>
              <a:t>Gate E는 제한된 로컬 v1 검토입니다. 문서 승인, branch merge, 서비스 publish는 별도입니다.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