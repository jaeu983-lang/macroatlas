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308b299f14c6a" /><Relationship Type="http://schemas.openxmlformats.org/officeDocument/2006/relationships/extended-properties" Target="/docProps/app.xml" Id="R618cfbff613646c4" /><Relationship Type="http://schemas.openxmlformats.org/officeDocument/2006/relationships/officeDocument" Target="/ppt/presentation.xml" Id="R939b07dd2cc3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82f38c4784432"/>
  </p:sldMasterIdLst>
  <p:notesMasterIdLst>
    <p:notesMasterId xmlns:r="http://schemas.openxmlformats.org/officeDocument/2006/relationships" r:id="Re7c4c17754d24975"/>
  </p:notesMasterIdLst>
  <p:sldIdLst>
    <p:sldId xmlns:r="http://schemas.openxmlformats.org/officeDocument/2006/relationships" id="256" r:id="R2a365bf0d46448ae"/>
    <p:sldId xmlns:r="http://schemas.openxmlformats.org/officeDocument/2006/relationships" id="257" r:id="Rab765cd0a24543dc"/>
    <p:sldId xmlns:r="http://schemas.openxmlformats.org/officeDocument/2006/relationships" id="258" r:id="R9e7151ae21364fda"/>
    <p:sldId xmlns:r="http://schemas.openxmlformats.org/officeDocument/2006/relationships" id="259" r:id="Rab8c475d639c44ff"/>
    <p:sldId xmlns:r="http://schemas.openxmlformats.org/officeDocument/2006/relationships" id="260" r:id="R3010b82d3e9a4a16"/>
    <p:sldId xmlns:r="http://schemas.openxmlformats.org/officeDocument/2006/relationships" id="261" r:id="R5fdd8da284a04b13"/>
    <p:sldId xmlns:r="http://schemas.openxmlformats.org/officeDocument/2006/relationships" id="262" r:id="Reb88baf7317b4be9"/>
    <p:sldId xmlns:r="http://schemas.openxmlformats.org/officeDocument/2006/relationships" id="263" r:id="Rfe2119dcdaee4fda"/>
    <p:sldId xmlns:r="http://schemas.openxmlformats.org/officeDocument/2006/relationships" id="264" r:id="R44e21177baf04b31"/>
    <p:sldId xmlns:r="http://schemas.openxmlformats.org/officeDocument/2006/relationships" id="265" r:id="Ra79f3c8e502f4513"/>
    <p:sldId xmlns:r="http://schemas.openxmlformats.org/officeDocument/2006/relationships" id="266" r:id="Rce1aeaeacd4a4bd3"/>
    <p:sldId xmlns:r="http://schemas.openxmlformats.org/officeDocument/2006/relationships" id="267" r:id="R6f2c845001bb40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ec5a8c0d534e80" /><Relationship Type="http://schemas.openxmlformats.org/officeDocument/2006/relationships/slideMaster" Target="/ppt/slideMasters/slideMaster1.xml" Id="Rede82f38c4784432" /><Relationship Type="http://schemas.openxmlformats.org/officeDocument/2006/relationships/notesMaster" Target="/ppt/notesMasters/notesMaster1.xml" Id="Re7c4c17754d24975" /><Relationship Type="http://schemas.openxmlformats.org/officeDocument/2006/relationships/presProps" Target="/ppt/presProps.xml" Id="R04c4829a90194251" /><Relationship Type="http://schemas.openxmlformats.org/officeDocument/2006/relationships/tableStyles" Target="/ppt/tableStyles.xml" Id="Rb3e078632f454ee7" /><Relationship Type="http://schemas.openxmlformats.org/officeDocument/2006/relationships/slide" Target="/ppt/slides/slide1.xml" Id="R2a365bf0d46448ae" /><Relationship Type="http://schemas.openxmlformats.org/officeDocument/2006/relationships/slide" Target="/ppt/slides/slide2.xml" Id="Rab765cd0a24543dc" /><Relationship Type="http://schemas.openxmlformats.org/officeDocument/2006/relationships/slide" Target="/ppt/slides/slide3.xml" Id="R9e7151ae21364fda" /><Relationship Type="http://schemas.openxmlformats.org/officeDocument/2006/relationships/slide" Target="/ppt/slides/slide4.xml" Id="Rab8c475d639c44ff" /><Relationship Type="http://schemas.openxmlformats.org/officeDocument/2006/relationships/slide" Target="/ppt/slides/slide5.xml" Id="R3010b82d3e9a4a16" /><Relationship Type="http://schemas.openxmlformats.org/officeDocument/2006/relationships/slide" Target="/ppt/slides/slide6.xml" Id="R5fdd8da284a04b13" /><Relationship Type="http://schemas.openxmlformats.org/officeDocument/2006/relationships/slide" Target="/ppt/slides/slide7.xml" Id="Reb88baf7317b4be9" /><Relationship Type="http://schemas.openxmlformats.org/officeDocument/2006/relationships/slide" Target="/ppt/slides/slide8.xml" Id="Rfe2119dcdaee4fda" /><Relationship Type="http://schemas.openxmlformats.org/officeDocument/2006/relationships/slide" Target="/ppt/slides/slide9.xml" Id="R44e21177baf04b31" /><Relationship Type="http://schemas.openxmlformats.org/officeDocument/2006/relationships/slide" Target="/ppt/slides/slide10.xml" Id="Ra79f3c8e502f4513" /><Relationship Type="http://schemas.openxmlformats.org/officeDocument/2006/relationships/slide" Target="/ppt/slides/slide11.xml" Id="Rce1aeaeacd4a4bd3" /><Relationship Type="http://schemas.openxmlformats.org/officeDocument/2006/relationships/slide" Target="/ppt/slides/slide12.xml" Id="R6f2c845001bb40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cac0b179c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8d259edd84633" /><Relationship Type="http://schemas.openxmlformats.org/officeDocument/2006/relationships/notesMaster" Target="/ppt/notesMasters/notesMaster1.xml" Id="Re4a180de6b1e47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ddbc40d4df451a" /><Relationship Type="http://schemas.openxmlformats.org/officeDocument/2006/relationships/notesMaster" Target="/ppt/notesMasters/notesMaster1.xml" Id="R069aa22207bc46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360c45f044f66" /><Relationship Type="http://schemas.openxmlformats.org/officeDocument/2006/relationships/notesMaster" Target="/ppt/notesMasters/notesMaster1.xml" Id="Rd02f0665e0534d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6bd2b36e324aa5" /><Relationship Type="http://schemas.openxmlformats.org/officeDocument/2006/relationships/notesMaster" Target="/ppt/notesMasters/notesMaster1.xml" Id="Rb044db13272747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f289dbd1544ccf" /><Relationship Type="http://schemas.openxmlformats.org/officeDocument/2006/relationships/notesMaster" Target="/ppt/notesMasters/notesMaster1.xml" Id="R0b90d2019b134a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c5ef91fbc4318" /><Relationship Type="http://schemas.openxmlformats.org/officeDocument/2006/relationships/notesMaster" Target="/ppt/notesMasters/notesMaster1.xml" Id="Rdd195f46754741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a3eedb7f494a5c" /><Relationship Type="http://schemas.openxmlformats.org/officeDocument/2006/relationships/notesMaster" Target="/ppt/notesMasters/notesMaster1.xml" Id="R19c564151b0d46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3626a81ab04bc5" /><Relationship Type="http://schemas.openxmlformats.org/officeDocument/2006/relationships/notesMaster" Target="/ppt/notesMasters/notesMaster1.xml" Id="Ra58c5467184446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9868f128894672" /><Relationship Type="http://schemas.openxmlformats.org/officeDocument/2006/relationships/notesMaster" Target="/ppt/notesMasters/notesMaster1.xml" Id="R633b1ca538d842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1c3690cec14ce8" /><Relationship Type="http://schemas.openxmlformats.org/officeDocument/2006/relationships/notesMaster" Target="/ppt/notesMasters/notesMaster1.xml" Id="Rffc75608846140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4acc93fd9d41ed" /><Relationship Type="http://schemas.openxmlformats.org/officeDocument/2006/relationships/notesMaster" Target="/ppt/notesMasters/notesMaster1.xml" Id="R5766fe8856f543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b91cfd33b44827" /><Relationship Type="http://schemas.openxmlformats.org/officeDocument/2006/relationships/notesMaster" Target="/ppt/notesMasters/notesMaster1.xml" Id="Rf22472671d5345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d6d0b330c49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82ae3d5ff48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57c90cfc440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cbfd5661245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e6765d2c542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24b5e3e0146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2CBD7D-E126-4488-933E-7FBB3E5ED2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CEDDBB-77F0-4570-930A-6484D951FA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7FE13E-DF94-4CB4-9C02-9EFA92C7B5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A57752-063D-4AFD-95AE-65E8A03CC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12322C-3E49-48B5-B071-36E01A0113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2D4093-C3E4-4B5C-9B5D-41FCC3580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576DB8-90AB-4E3F-B52F-4AFE7193AC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975059-CD76-4F25-9079-08C153BB9C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0C46B7-FD2C-4F6B-9565-61D1FE08EC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CA842E-BD70-421D-8F37-BB8DCA85FA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cfeb78f481414f" /><Relationship Type="http://schemas.openxmlformats.org/officeDocument/2006/relationships/slideLayout" Target="/ppt/slideLayouts/slideLayout1.xml" Id="R7266f4bf7b4545fe" /><Relationship Type="http://schemas.openxmlformats.org/officeDocument/2006/relationships/slideLayout" Target="/ppt/slideLayouts/slideLayout2.xml" Id="Rf59d1f5c0d0b40fd" /><Relationship Type="http://schemas.openxmlformats.org/officeDocument/2006/relationships/slideLayout" Target="/ppt/slideLayouts/slideLayout3.xml" Id="R6eb2d943b0a14bcd" /><Relationship Type="http://schemas.openxmlformats.org/officeDocument/2006/relationships/slideLayout" Target="/ppt/slideLayouts/slideLayout4.xml" Id="Rd60bc2a142c14b07" /><Relationship Type="http://schemas.openxmlformats.org/officeDocument/2006/relationships/slideLayout" Target="/ppt/slideLayouts/slideLayout5.xml" Id="R230bff0ddb4c4523" /><Relationship Type="http://schemas.openxmlformats.org/officeDocument/2006/relationships/slideLayout" Target="/ppt/slideLayouts/slideLayout6.xml" Id="R75c5baf91850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66f4bf7b4545fe"/>
    <p:sldLayoutId xmlns:r="http://schemas.openxmlformats.org/officeDocument/2006/relationships" id="2147483650" r:id="Rf59d1f5c0d0b40fd"/>
    <p:sldLayoutId xmlns:r="http://schemas.openxmlformats.org/officeDocument/2006/relationships" id="2147483651" r:id="R6eb2d943b0a14bcd"/>
    <p:sldLayoutId xmlns:r="http://schemas.openxmlformats.org/officeDocument/2006/relationships" id="2147483652" r:id="Rd60bc2a142c14b07"/>
    <p:sldLayoutId xmlns:r="http://schemas.openxmlformats.org/officeDocument/2006/relationships" id="2147483653" r:id="R230bff0ddb4c4523"/>
    <p:sldLayoutId xmlns:r="http://schemas.openxmlformats.org/officeDocument/2006/relationships" id="2147483654" r:id="R75c5baf91850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b12d2e4694dfb" /><Relationship Type="http://schemas.openxmlformats.org/officeDocument/2006/relationships/notesSlide" Target="/ppt/notesSlides/notesSlide1.xml" Id="R137aed75b0e344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e136223414ea5" /><Relationship Type="http://schemas.openxmlformats.org/officeDocument/2006/relationships/notesSlide" Target="/ppt/notesSlides/notesSlide2.xml" Id="R4a21b1a72ac547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472edf5f04da6" /><Relationship Type="http://schemas.openxmlformats.org/officeDocument/2006/relationships/notesSlide" Target="/ppt/notesSlides/notesSlide3.xml" Id="Ra1b73bbb403142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f4e78e6d8434b" /><Relationship Type="http://schemas.openxmlformats.org/officeDocument/2006/relationships/notesSlide" Target="/ppt/notesSlides/notesSlide4.xml" Id="Raf246f301fc140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48330996f46a7" /><Relationship Type="http://schemas.openxmlformats.org/officeDocument/2006/relationships/notesSlide" Target="/ppt/notesSlides/notesSlide5.xml" Id="R8ca70e13982247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0d78ba8544d38" /><Relationship Type="http://schemas.openxmlformats.org/officeDocument/2006/relationships/notesSlide" Target="/ppt/notesSlides/notesSlide6.xml" Id="R1b20360fde2643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39663edd941fc" /><Relationship Type="http://schemas.openxmlformats.org/officeDocument/2006/relationships/notesSlide" Target="/ppt/notesSlides/notesSlide7.xml" Id="R6cf21aa69a744f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aa04dcc4144e4" /><Relationship Type="http://schemas.openxmlformats.org/officeDocument/2006/relationships/notesSlide" Target="/ppt/notesSlides/notesSlide8.xml" Id="R3370fe44294746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26c852b54451e" /><Relationship Type="http://schemas.openxmlformats.org/officeDocument/2006/relationships/notesSlide" Target="/ppt/notesSlides/notesSlide9.xml" Id="Ra93278add6da4d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aec7c6b2f4120" /><Relationship Type="http://schemas.openxmlformats.org/officeDocument/2006/relationships/notesSlide" Target="/ppt/notesSlides/notesSlide10.xml" Id="Ra253d3ccd5514c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f747740d04f7d" /><Relationship Type="http://schemas.openxmlformats.org/officeDocument/2006/relationships/notesSlide" Target="/ppt/notesSlides/notesSlide11.xml" Id="Rcc538f500c9c4f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2d266049e40ed" /><Relationship Type="http://schemas.openxmlformats.org/officeDocument/2006/relationships/notesSlide" Target="/ppt/notesSlides/notesSlide12.xml" Id="Rbbffd38065f047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3E804-656D-4DA1-8CD3-F664A21E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29BBA-8707-444D-8880-90F46BB6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데이터를 찾고,</a:t>
            </a:r>
          </a:p>
          <a:p xmlns:a="http://schemas.openxmlformats.org/drawingml/2006/main">
            <a:pPr algn="l">
              <a:defRPr sz="32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믿을 수 있게 운영합니다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263DB-A069-4EDA-8D33-18E6F207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공통 엔진은 안정적으로 유지하면서</a:t>
            </a:r>
          </a:p>
          <a:p xmlns:a="http://schemas.openxmlformats.org/drawingml/2006/main">
            <a:pPr algn="l">
              <a:defRPr sz="17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오류 개선과 기관 연결을 나란히 진행하는 방법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04B5C-D9AE-41D9-BF17-C32C2289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429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78653-4475-49E8-A2C8-52056425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52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748E"/>
                </a:solidFill>
                <a:latin typeface="Arial"/>
                <a:ea typeface="Arial"/>
                <a:cs typeface="Arial"/>
              </a:rPr>
              <a:t>제품 · 운영 · 개발 기준  |  2026.10.25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C6D17-776A-424A-801B-0FF31E0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27A2C-72BA-49A6-8435-A4E9CA8F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96BF4-55EC-45F6-9991-306A677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매주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E6411-EB72-41F5-8F9B-FD99D90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28825"/>
            <a:ext cx="2895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오류와 사람의 피드백을 고칩니다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5F46A-A9F6-42E4-BC70-8309FD27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F5DF4-AF7B-4084-8A91-2E7D4BCC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AA3F0-E851-4C83-9F56-975B3DF8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2주마다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CFF37-4970-47DC-A345-3735533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81375"/>
            <a:ext cx="2895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메모리와 성능을 측정해 다듬습니다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F2CD9-115E-4406-B8B0-8BE2F6C0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005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61155-E04F-4872-B513-6A689B6B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00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solidFill>
              <a:srgbClr val="BB4D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A9BF2-4A67-463A-A6CA-3E5D9FEA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필요할 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F3C61-5ABB-4CA8-ACBC-FBBD0850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2895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기관 API를 하나씩 연결합니다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4D60B-61D3-4595-AB39-F9C5CBC0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4F467-4E5E-44AF-8DAA-6085871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참고: PROJECT_PLAN.md · OPERATING_PLAN.md · 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575361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48270-31E3-4953-951C-B25B30EB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5C8A9-EFA1-42B5-9615-F37A72D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사용자는 필요한 통계를 말하면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657CF-5BAD-4EAC-B7A3-123595B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MacroAtlas가 출처와 의미를 확인하고, 준비된 경로로 안전하게 수집합니다.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4DB92-F7A0-4B60-AAC0-73601CC7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3C6E5-7A64-4A71-84DE-D421FD4B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PROJECT_PLAN.md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2DA14-F1B0-4086-A5A2-F0735934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1C36E-26B6-41FF-A172-C171A225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83E6E-8B0B-46E2-8F83-AD633464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D74A3-26E3-40DF-9E72-4933FE5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E3262-4596-4E36-8944-C96AA0C6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2895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기관 이름만 나열하지 않고</a:t>
            </a:r>
          </a:p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어떤 표와 시계열인지,</a:t>
            </a:r>
          </a:p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무슨 뜻인지 근거를 붙입니다.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494C8-6B77-40C3-8E34-BC17550D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8D29E-D002-4270-A119-132EE5CB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ADF92-8677-4DBE-BF0B-1CC7EC23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4312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가져오기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97EA5-2858-4669-85FF-1566BDB8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90825"/>
            <a:ext cx="2895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공식 API를 먼저 확인하고</a:t>
            </a:r>
          </a:p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대상·기간·단위가 맞을 때</a:t>
            </a:r>
          </a:p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준비된 수집 경로를 사용합니다.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BD3A8-3AD6-4F9C-9ED6-C6FE9DD6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3E295-5DAE-422F-A1F8-FEDC4E80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solidFill>
              <a:srgbClr val="BB4D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FA1D7-8672-44B1-9B50-6B644329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4312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다시 확인하기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A71EB-DA18-4BAF-AAEF-B1367C40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2895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원자료와 출처, 수집 시각,</a:t>
            </a:r>
          </a:p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검증 결과와 오류 이력을 남겨</a:t>
            </a:r>
          </a:p>
          <a:p xmlns:a="http://schemas.openxmlformats.org/drawingml/2006/main">
            <a:pPr algn="l">
              <a:defRPr sz="15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다음 작업에서 이어갑니다.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8918D-1C91-49CA-BAD2-8DF2416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748E"/>
                </a:solidFill>
                <a:latin typeface="Arial"/>
                <a:ea typeface="Arial"/>
                <a:cs typeface="Arial"/>
              </a:rPr>
              <a:t>후보를 찾았다는 사실만으로 다운로드 가능성이나 통계적 동등성이 확인된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029051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BB5352-12F6-4E7B-AF7D-1D8B67CE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49972-6D82-4759-9D22-EA92E5B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요청에서 결과까지, 다섯 단계로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BB104-189F-4889-8A7D-E4DA432B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불확실한 조건은 질문하고, 확인된 범위에서만 수집합니다.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3F985-A468-4D07-B099-38332B44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3AC09-B7E0-409C-A21A-E1C5EEDC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PROJECT_PLAN.md · USER_GUIDE.md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F1967-4951-43E1-A279-E48EDF25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7101F-6693-4D5E-BADD-F3AC7CA6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E8247-571C-4150-83C7-C0A705A0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3A2DD-961B-4D49-8DFE-C8FD1CC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1  요청 듣기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290B1-10C7-4505-B7D3-35DD0D73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562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원하는 통계와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지역·기간·용도를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파악합니다.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E4A13-65BB-4124-A5F0-83706D2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61FC0-CFF6-487E-88B1-97131170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98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825D3-D653-4299-BDD0-176613EF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98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896B3-A399-4D0E-B0A2-A3AB8A0F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2  후보 찾기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5FB77-E060-404B-8437-B80DDD1D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1562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공식 기관과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데이터셋 근거를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DD7C0-FB85-4BB6-8A4C-32C6105D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48AB3-CE97-4025-9657-3679DB9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D9D2A-4094-4989-83A4-46E0F72D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E14F2-11A9-473B-83B1-A0CC7FD8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03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3  의미 맞추기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5FB0F-BEA0-4FBC-B177-7878F033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562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정의·단위·주기·범위를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비교하고 필요하면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사람에게 묻습니다.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43385-9A0B-41E7-AE68-7D83DA58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991C3-CB26-4192-A350-57BC4323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B9D1C-8364-4045-8FBD-CCCF4509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B9823-D7A4-48AC-A503-D60A9E8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4  수집·검사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A51AC-C67A-4D01-9AEA-D6B1B998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1562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준비된 API로 받고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원본과 품질 근거를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보존합니다.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6172F8-280E-43F2-809D-94CB7904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4913A-CE11-4CDC-81C5-C4104F4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098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F34A1-65E7-4E6E-BF9E-C55A04FC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098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C9A4F-4BF4-43B3-848A-65F240D2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5  설명·복구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6CAC3-30F3-48DB-BDF4-8F37EF44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48000"/>
            <a:ext cx="1562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성공과 한계를 알리고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실패한 단계부터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안전하게 이어갑니다.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F85297-7192-4EBC-8DA2-1460E4D7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33950"/>
            <a:ext cx="8610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AD7B03-1BBB-4631-9C2F-0925F0F9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67300"/>
            <a:ext cx="807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현재는 이 전체 대화 흐름을 제공하는 제품 UI가 없습니다. Python 엔진과 제한된 실행 경로가 먼저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25358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E227FB-67ED-4530-A036-DF53AFBA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39666-BCA9-47AC-B803-4286189A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에이전트는 같은 엔진을 안내합니다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EFCB2-F547-42CA-B967-8DBE286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자연어 요청 담당은 목표 단계이고, 공통 Python 엔진과 데이터 처리 모듈은 현재 코드에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8F5ED-6671-4E35-A848-278D425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7D565-1490-4F68-A924-939069DB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ARCHITECTURE.md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D78D5-85D1-456A-AA40-104C8C3F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BE96F-3BA8-4EFD-8A5C-84C15B08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2476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93BBA-5EC7-425A-8CCD-5FA3FF4D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FF8F-F31B-4817-9BFB-54543A1D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사용자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4D1A9-6FFF-48CA-8E64-DDC26FD5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자연어로 필요한 통계를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0FDF2-1114-46A2-8F66-8A3A0E1B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193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7AD12-8291-4A49-BAD4-4F4E40A6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24025"/>
            <a:ext cx="31432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61EAC-C6ED-4228-980F-7EDDFD59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24025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solidFill>
              <a:srgbClr val="BB4D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A21C0-1271-4B4E-AEA8-009385B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1452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요청 조정 에이전트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D5206-AF1B-4C71-B667-CDEC297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383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조건 정리 · 빠진 정보 질문 · 진행 설명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2FD6B-4990-4AFC-AD7A-F6DE679F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95575"/>
            <a:ext cx="2905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목표 구조 · 자연어 UI는 아직 미구현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7B0F5-07A8-4866-9653-897938D3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074D3-8CAD-4025-B03B-47308599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24025"/>
            <a:ext cx="4381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015E0-7B16-44CA-B1D6-353CD081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24025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F64EA-B18D-4C63-8EBF-749E7ACC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14525"/>
            <a:ext cx="3952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공통 Python 엔진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84081-692E-42FD-84EE-10431C3D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394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요청 상태 · 실행 순서 · 기록 · 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9E6A9-FC1E-45BA-AA04-9A4C5AC2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엔진 안에서는 기관별 차이를 connector에 두고, 발견부터 검증·저장까지 공통 계약을 재사용합니다.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BE980-7163-41E7-835E-994501C6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08E34-85D1-4C5E-BE4B-31B3261A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48606-DFEF-443D-94F9-0E1AC6C9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출처 찾기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5A6D5-D97B-4E3D-B1A9-37137648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기관·dataset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26BE39-F467-44C4-B908-9543147D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2957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67BA87-CA7D-4286-A251-251DE777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646A09-C50C-49B8-B175-DF846E6F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7DFC9E-4B27-4A93-9FF6-40E9A24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8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의미 정리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5389BB-38A8-4448-9491-6EF82EA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14850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정의·단위·주기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E9E807-57AA-49FC-AB16-2E6D3883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957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01002C-5522-4F9D-B8F1-7E791CF7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57625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EB9A9-F5B6-42BF-B40A-16271580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57625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solidFill>
              <a:srgbClr val="BB4D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B6A6F-7DB5-4B3F-8620-58BE8ED8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48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기관 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906297-F3E6-433D-BFA2-3BBC40D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14850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요청·인증·페이지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80BF97-16A0-401F-B58B-7919D74D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957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A25C01-700A-4944-8495-9D34D17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57625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E6E212-CDB5-4B18-A07C-5AABD50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57625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842D24-AB2A-4212-9F62-DFCFB183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수집 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F53140-7C8C-47E4-B04A-A2E6DF4A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raw·값·품질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EFB2D1-6426-4C09-BF3D-DFF0BE25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957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3476A8-4E11-4A97-AE64-9E3DD5BF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2000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0E3AE8-FB34-4D80-BEBC-6AC46292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8FC700-1476-47E1-B238-DC54E3F0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48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저장 이력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9F47F2-74AE-4D74-8091-AF4F12C2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14850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SQLite·복구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0D0609-DDD6-4F96-9C79-A213A73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운용자는 키·네트워크·요청량을 관리하고, 사람은 모호한 정의와 변경 사항을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220070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81CBB-5413-4604-BC5E-F914286F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3B38D-9011-4D99-BF53-D69F3278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기관 목록과 연결 상태는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98E7A-A15F-4F21-BBE2-2388E88F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API 문서가 있어도 MacroAtlas가 그 기관 자료를 가져올 수 있다는 뜻은 아닙니다.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467D6-106A-4873-90AE-7192605C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4086F-A172-4B10-80B5-C5D0CCE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INSTITUTION_API_AUDIT.md · ITERATION_20_REPORT.md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DD836-FA24-47F3-BB9B-4E85E4A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5BC9A-7724-471C-B6EB-D96985AF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6FD70-75AF-4DA3-BC11-F7520E69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550F4-B491-45F8-BBDD-D6B63202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조사 대상 기관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8E94D-EF05-4266-9B29-03DC7A36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3C023-D322-4915-9D5B-4CAD62F1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38375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47E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6A7B4-02F5-41A4-81C0-44801F3C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9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공식 API 문서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28EFD-7A16-4B95-9B47-07758511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FE99F-362D-4319-8F02-6FA4129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567F0-6926-4C21-B0D5-09FDC418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API 명세 추가 확인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157C1-BC38-443A-8344-0D7E7245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383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0F3A1-1AC4-4D90-BF62-ADD4F8CB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38375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06977-F9A2-4631-9ED5-295AFCA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99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공식적으로 API 없음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FC1B7-03DB-4632-A5D7-A05E80D0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57675"/>
            <a:ext cx="971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68E77-5478-4C49-92DE-B1B12203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4817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현재 실 API 수집 검증: World Bank · 미국 GDP 고정 경로 한 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25A48-9A38-4DFC-B1A4-6DABA117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BEA와 e-Stat은 제한된 client와 mock 검사 상태입니다. workflow 연결과 live 인증은 미검증입니다.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1C8F2-F005-4284-B0D0-ECF82BB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975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API 명세 미확인은 API 부재가 아닙니다. 알 수 없는 endpoint는 추정해서 호출하지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21556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3FA04-0E98-453A-9CDE-FDFF7DCA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A6204-E0C0-4926-A805-FC33C933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유지보수와 기관 추가는 나란히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D3FE0-DCC4-483F-98D7-86F4AF26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두 트랙은 offline 단계에서 독립적으로 움직이고, live 시험에서만 공통 준비 조건을 함께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EDB5A-1BAC-4442-BA9C-E79F1351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FF3BC-FE3F-46F6-8308-7114A192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OPERATING_PLAN.md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14F9-3C70-420F-917F-48119829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4CD8E-BFA6-4238-B74D-A92B7D77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C45BC-A341-4875-BBA2-17EA1DBC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47E6"/>
                </a:solidFill>
                <a:latin typeface="Arial"/>
                <a:ea typeface="Arial"/>
                <a:cs typeface="Arial"/>
              </a:rPr>
              <a:t>M  공통 엔진 유지보수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B1651-17B6-4810-AD74-D1359748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B"/>
                </a:solidFill>
                <a:latin typeface="Arial"/>
                <a:ea typeface="Arial"/>
                <a:cs typeface="Arial"/>
              </a:rPr>
              <a:t>매주  오류·사람 피드백을 재현하고 수정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B"/>
                </a:solidFill>
                <a:latin typeface="Arial"/>
                <a:ea typeface="Arial"/>
                <a:cs typeface="Arial"/>
              </a:rPr>
              <a:t>2주마다  메모리·성능을 측정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B"/>
                </a:solidFill>
                <a:latin typeface="Arial"/>
                <a:ea typeface="Arial"/>
                <a:cs typeface="Arial"/>
              </a:rPr>
              <a:t>원인이 없거나 개선이 불확실하면 그대로 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A15F9-CDAE-4915-A0CC-0C487D21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5C52E-F81B-4C06-A521-7A0A878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C  기관 API 연결·업데이트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5A32A-E3C7-4A04-9FDC-5005D940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B"/>
                </a:solidFill>
                <a:latin typeface="Arial"/>
                <a:ea typeface="Arial"/>
                <a:cs typeface="Arial"/>
              </a:rPr>
              <a:t>필요한 통계가 생길 때 시작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B"/>
                </a:solidFill>
                <a:latin typeface="Arial"/>
                <a:ea typeface="Arial"/>
                <a:cs typeface="Arial"/>
              </a:rPr>
              <a:t>공식 문서 → 기관 fixture → 공통 엔진 연결</a:t>
            </a:r>
          </a:p>
          <a:p xmlns:a="http://schemas.openxmlformats.org/drawingml/2006/main">
            <a:pPr algn="l">
              <a:defRPr sz="1350" b="0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B"/>
                </a:solidFill>
                <a:latin typeface="Arial"/>
                <a:ea typeface="Arial"/>
                <a:cs typeface="Arial"/>
              </a:rPr>
              <a:t>기관마다 차이를 분리해 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79AD4-4E22-4C78-8ACB-C0A9364A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384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68298-3F4B-4A01-8A42-46311D1C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86275"/>
            <a:ext cx="925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각자 준비한 결과를 같은 검토 지점으로 가져옵니다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7A2AB-A064-4195-86A6-9D80082C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05375"/>
            <a:ext cx="3238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8D940-4401-40DF-9020-A922E0D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47E6"/>
                </a:solidFill>
                <a:latin typeface="Arial"/>
                <a:ea typeface="Arial"/>
                <a:cs typeface="Arial"/>
              </a:rPr>
              <a:t>공통 엔진 통과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2818A-5D64-48D5-9D79-1484821E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05375"/>
            <a:ext cx="3238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AF3D7-1E43-4EF7-9C38-4042C70E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해당 기관 통과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6AA15-A039-430C-AA89-017F8C95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768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둘 다 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7A4BF-290B-4886-9A4A-0C82774F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1025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준비된 기관 하나씩 live canary를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2019635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95C0F-CAF9-47C6-B290-BE60D493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9F0BD-8F83-4973-AFDD-93F8E6E3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매주, 사람이 알려준 문제를 해결합니다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436B0-4A1B-4F8E-8CA3-FF541DBB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한 주에 모든 문제를 없애는 목표보다, 재현 가능한 문제를 작게 닫는 데 집중합니다.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119B9-620F-47BB-954B-EE8E4A8F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6B2A7-4EDE-4C6F-97D1-3AB61AA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OPERATING_PLAN.md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032B2-D8CB-400C-85BE-2DDB1C03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A1E6E-B36D-4898-96E4-D2B825EF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6F0C7-D894-4B85-90F6-0600F54D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B20AE-131B-4518-A923-15C1350C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작업·기관·실패 단계를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DF4F3-8D44-435E-A01A-61FACAC2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A3235-C892-4622-BD32-FF9EAD94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574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3C9CC-C9EA-4324-8F1A-B05811E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F2E25-78D4-4FBE-A2F4-D9A9BB19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raw와 fixture로 최소 사례 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D1603-95AE-4B70-BED3-A79F7D3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6291C-5548-4419-8D40-DD894EC6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574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DEA94-E1EB-4B27-B955-D82DCB67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669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분류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F2009-4FDF-41B7-BF59-DBDB2714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38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사용자 지시·기관 데이터·공통 엔진 구분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32917-6473-4C85-B092-A840BC95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955EA-5C79-4E8A-A491-BC25EAD4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574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5DA4D-4739-4068-BEE6-040CF60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669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DCE2D-A02B-48DE-AB4C-E4614E5A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38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원인이 있는 모듈만 변경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43918-94B8-46A8-8C5A-A0A77343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27F75-B707-4BBB-BD53-F5EEED8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57425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B0975-31A6-4A51-8B11-2AC2636C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669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063A0-864B-4874-9EC5-1F10C48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38475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회귀·출처·결측·복구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BF145-CA02-45C5-A702-429D12F6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0100"/>
            <a:ext cx="8610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588460-6794-410B-B3F8-F603CFF0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81550"/>
            <a:ext cx="803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데이터 손실·키 노출·반복 오수집처럼 위험한 문제는 주간 일정과 상관없이 즉시 멈춥니다.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471A4-62F3-451E-8FAC-11FE5432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처리 시간: 주간 분류 60–90분, 실제 수정은 보통 0.5–2 작업일로 계획</a:t>
            </a:r>
          </a:p>
        </p:txBody>
      </p:sp>
    </p:spTree>
    <p:extLst>
      <p:ext uri="{BB962C8B-B14F-4D97-AF65-F5344CB8AC3E}">
        <p14:creationId xmlns:p14="http://schemas.microsoft.com/office/powerpoint/2010/main" val="1199454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71466-31F5-4E20-AAFA-19CFDE44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BD644-12FC-4726-AB2A-F2AB7DA5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2주마다, 메모리를 숫자로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6D5C4-F884-4286-9AF3-1822A63F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빠르게 만드는 것보다 결과가 같고 반복해서 좋아지는지 먼저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C3BF5-6C86-4F01-9601-DB658617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13FA7-3386-4A50-AB84-5AC53FB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PERFORMANCE_OPTIMIZATION_PLAN.md · ITERATION_20_REPORT.md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9CA3E-ABED-4D4D-B061-569B90C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50A1F-273F-4909-BFB9-DC54EC7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6F535-2095-4FF0-8A7F-0963BEB9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02C68-5D78-4313-A3DB-ADA67388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같은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47F26-2E05-4152-9496-15E60B6C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fixture · seed · 환경을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731FB-FB68-4378-947E-35E1C03D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CA3EF-87E8-41AE-A4A6-B966CECB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6215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822C1-52AF-46F1-A399-32D0A3EC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6215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88D94-7187-4BEA-9BDB-4D514AC0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26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반복 측정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51CF8-5568-4669-94E5-A5F75CDC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241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3회 예비 후 안정되면 30회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93FF5-3B67-432F-8116-F03E0B37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289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8AF8B-34D5-4CAB-9022-8DB7F70D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5BE86-A79F-4B38-837D-308B85BD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C64E5-4AE7-4538-9288-E6D93050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정확성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5A9B5-51C1-4D6A-81C1-E9C60E24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raw hash · 행 수 · 결측/0 · 재개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C2C49-73C8-42A4-B024-D7ABCF5C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39E4C-645A-4DA6-B573-9E4387D5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6215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6E88B-E46C-4259-B28C-80912574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6215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solidFill>
              <a:srgbClr val="BB4D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EF8D2-3B11-405C-AA7F-2A316611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526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결정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0F96D-E646-4B52-9F77-7C44A4D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효과가 불분명하면 코드 유지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492B4-9011-4DA3-9DFE-92F3310D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함께 보는 지표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ADB32-2570-46CA-97EB-982EC6B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81592-06F1-443A-9A1A-76A29785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메모리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159BF-A43D-4924-8CC2-C9EDD82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peak RSS · Python 할당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63588A-0EE7-42BD-B4F1-B01B7DA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386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33A3FE-13E0-443B-B68F-5D44451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5339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시간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5381A-6480-4AC9-8381-9314A712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8006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단계별 p50/p95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21D8C-984D-472B-800A-A083FA6B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F82789-2D22-49B5-BE16-1853608E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339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호출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E5A847-35EF-4549-9BEE-60CF1870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API 수 · 중복 · bytes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79761C-BD55-4459-BB04-93182939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386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8AEDEA-F2BC-433E-8027-0CF151BF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339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품질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81D078-1AF8-4573-A50C-7A67C9CA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8006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출처 · 값 · 복구 불변식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75CF78-4BC6-4D5D-87C1-5F79C000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1497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원본 삭제는 최적화가 아닙니다. 값·출처·복구가 그대로고 측정된 병목만 줄입니다.</a:t>
            </a:r>
          </a:p>
        </p:txBody>
      </p:sp>
    </p:spTree>
    <p:extLst>
      <p:ext uri="{BB962C8B-B14F-4D97-AF65-F5344CB8AC3E}">
        <p14:creationId xmlns:p14="http://schemas.microsoft.com/office/powerpoint/2010/main" val="8182615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3934B-7508-46FF-BD0B-1F596F17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A174C-5C95-4056-97DA-03A128D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기관은 필요할 때, 준비도에 맞춰 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7FB81-0FCC-45A7-98F2-951AD2A0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문서가 명확한지, 인증과 응답 구조가 복잡한지에 따라 계획 기간을 다르게 잡습니다.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85074-8B3D-4C89-B830-9836737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DAA68-B34F-441C-84F1-03B9484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OPERATING_PLAN.md · INSTITUTION_API_AUDIT.md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0E495-3EBC-4AE9-983C-20BCD10C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5477E-C066-4647-9249-7A89876E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3337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69E53-A114-4A29-BCBA-80D3B448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667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solidFill>
              <a:srgbClr val="BB4D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03C9C-0037-4C7D-B6EB-96EE43FB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먼저 조사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49520-B47B-48D9-A2D7-91273585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895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API 명세 미확인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공식 문서와 표별 접근을 확인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초기 조사 0.5–2일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F5E9A-92FA-4B2B-AE73-C0A5BD2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33337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C9593-B175-4D55-8496-1B838C5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6667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57E1A-38B0-46A4-B9DC-7ED19BD1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145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간단한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EEA1D-18E1-42B6-AF98-99A9AAE8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05100"/>
            <a:ext cx="2895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요청·인증·응답이 명확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기관 fixture와 연결까지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보통 1–3 작업일 계획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FA14C-BAF8-472D-B305-1079746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3337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9D25D-085D-46CD-BBB2-1DE91AAF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6667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1E46B-5C94-4542-84B3-FA529944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복잡한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1CB5F-E2B9-4EAA-9C0F-E3ED1076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895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SDMX·pagination·개정·대용량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추가 fixture와 의미 확인이 필요</a:t>
            </a:r>
          </a:p>
          <a:p xmlns:a="http://schemas.openxmlformats.org/drawingml/2006/main">
            <a:pPr algn="l">
              <a:defRPr sz="127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보통 3–7일 이상 계획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A271E-F0DA-4E4A-AB27-8B274167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0075"/>
            <a:ext cx="9753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EB9EA-CE7C-43D3-9A2A-2A3ECB9E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91050"/>
            <a:ext cx="922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초기 검토 후보: BEA · e-Stat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E7237-5138-4EE0-8285-B6E4D209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둘 다 제한 client/mock 상태입니다. 실제 필요한 데이터셋을 먼저 정하고 live 준비는 별도로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200D4-A12C-4ACB-B037-1F5D6C7E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81675"/>
            <a:ext cx="834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기간은 계획치입니다. 출처·검증 gate를 건너뛰어 맞추지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47090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0F07C-DEAA-4FCD-B647-3D707012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BADC2-E508-45AA-8826-DD7DB1D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실기관 시험은 한 문턱씩 넓힙니다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AC2CE-47FB-4797-8837-91ABA22C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대상이 준비되지 않았으면 다음 단계로 넘어가지 않고, 다른 기관의 offline 작업은 계속할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EBEDB-E29D-481B-BA06-CB70173B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D4451-AC8C-4A6E-8E77-46259DCE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OPERATING_PLAN.md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001D8-6597-489C-A78F-A4FC01E6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BD51A-7387-4171-9363-D4B5A887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666875" cy="21526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D478C-ECAF-4CD0-BA30-E9EC419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47E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AA07B-A9EF-4E71-B18F-2BC190B4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공식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13B20-EF2E-44F5-B602-0FE87E2B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1400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API와 대상 표,</a:t>
            </a:r>
          </a:p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인증·이용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91AE0-73A8-46FB-B710-94E4DFA1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1242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745E5-9BA1-44BE-B388-AB6A4DD3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47900"/>
            <a:ext cx="1666875" cy="21526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A818C-5C9A-422E-959C-64085571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28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47E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B3F8A-E284-4390-A2C4-085FA22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7180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기관 fixture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4946B-D72F-4719-91E1-6C1156DD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95675"/>
            <a:ext cx="1400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정상·빈값·오류</a:t>
            </a:r>
          </a:p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응답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62B90-8B0F-4BA6-9F67-23FB5B3B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242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BA1A6-15D9-4877-B33D-7E4B5D4F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47900"/>
            <a:ext cx="1666875" cy="21526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E5E3D-2264-4C4A-A166-3EF06EDE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28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47E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EAA94-F60B-4B43-AA6D-B37A7A06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offline 통합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D59D4-42A1-4F96-BC47-191E9C46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95675"/>
            <a:ext cx="1400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저장·조회·검증</a:t>
            </a:r>
          </a:p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중단·재개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9EE96-EEEB-4472-94F7-DE095DA2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242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B9FC6-080B-4B23-90C4-3C3BBC6A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1666875" cy="21526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6AF45-6C07-4437-9AF7-75DB2DC6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28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A7606-81D2-425D-B55F-32CAF004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7180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짧은 호출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D4995-07DF-459F-95BE-CE23107D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95675"/>
            <a:ext cx="1400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15–30분 canary</a:t>
            </a:r>
          </a:p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최소 요청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EB5AB-52A3-4216-B1B2-07D76668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242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F4579-95F9-4D3D-93F5-1B5172AC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1666875" cy="21526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85568-822E-411E-AF65-EE14235F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28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C1BB1-D724-4E1E-A419-2DB28D5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2시간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5F065-FF4D-4498-8E88-F296283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95675"/>
            <a:ext cx="1400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부분 실패와</a:t>
            </a:r>
          </a:p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복구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2C04FC-EFAF-4CB7-B8A5-3A26B97E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242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46AE97-3048-42CE-B552-F93C7184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47900"/>
            <a:ext cx="1666875" cy="21526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9C7714-E147-46D2-AB81-0A7142A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428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B98C5B-03DA-4547-AF2C-BA5DFC4E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7180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6시간 이상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C74EB0-D3BB-492E-B8EF-2F9D7184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495675"/>
            <a:ext cx="1400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메모리·호출량·</a:t>
            </a:r>
          </a:p>
          <a:p xmlns:a="http://schemas.openxmlformats.org/drawingml/2006/main">
            <a:pPr algn="ctr">
              <a:defRPr sz="1125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장기 복구 확인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A256D-BB14-4A37-A584-800415CA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91075"/>
            <a:ext cx="9486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445813-980D-4AD9-A86A-D62F9F9B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81575"/>
            <a:ext cx="899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401/403 · 429 · 응답 변경 · 반복 timeout이면 해당 기관을 멈춥니다. 처음은 provider당 동시 요청 1개로 시작합니다.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2DC1E4-80E5-402D-9120-2C999CF2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10250"/>
            <a:ext cx="849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시간은 MacroAtlas 운영 단계이며 기관의 공식 호출 한도가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332778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400E5-1E1B-4D3D-8EC3-132DBD4B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F816A-CD75-486D-B663-6AF2559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언어는 영어를 먼저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B7D42-20F7-42EF-8A4D-2C96FB11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영어 자료가 없으면 원문을 보존하고 영어를 거쳐 한국어로 설명합니다.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37246-F5C6-4BAE-AB69-68C398AE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6681D-5FE4-4B9B-AC3A-2C057AC6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PROJECT_PLAN.md · OPERATING_PLAN.md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BFB64-E8E5-435A-9672-0678D7C9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FBFE1-667C-484D-828F-05BB05BF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DC19B-3E34-4AC7-ADB0-6C54D10C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47E6"/>
                </a:solidFill>
                <a:latin typeface="Arial"/>
                <a:ea typeface="Arial"/>
                <a:cs typeface="Arial"/>
              </a:rPr>
              <a:t>먼저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DD275-A1C4-4C0F-AA46-DBFB66F8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영어 API·메타데이터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E329C-F3C9-418F-A34D-21FC7EA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B8E90-1ED8-4BC8-A527-FEAFF856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39E3C-4484-48BD-900E-54CBBD28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0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없을 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FEBEB-6793-4EB7-952E-A17766A6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765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일본어/중국어 원문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85CCC-ECD7-47B4-A9BA-5F505D15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A0D32-90D8-482A-96B9-308988D3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3BB80-119C-4622-82CF-C4FAF59B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중간 단계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97E27-5656-4A2E-BDE0-C45AA209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원문 → 영어 표현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F1D7C-8447-4DB3-A2A8-794D506C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CA94E-504E-4F92-BC05-95ECDAE1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5BCB9-5909-4F77-B6DF-A52364C2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00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07A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A55"/>
                </a:solidFill>
                <a:latin typeface="Arial"/>
                <a:ea typeface="Arial"/>
                <a:cs typeface="Arial"/>
              </a:rPr>
              <a:t>사용자에게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5D606-2AA1-45CC-B651-BBCF97FD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765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영어 설명 → 한국어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4D532-F6C2-4132-AACE-71051D4A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95631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FE09C-6C97-4D5A-A35E-699FE83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52925"/>
            <a:ext cx="895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원본 라벨과 수치는 그대로 둡니다.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DB5C6-CD8E-47FC-AA17-1C363FDF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006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번역 언어·근거·확인 필요 여부를 따로 기록하고, 코드·숫자·단위·식별자는 번역하지 않습니다.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2014A0-BD17-4FE5-82A9-5C0E2960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57850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번역문을 기관의 공식 영문 정의인 것처럼 표시하지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4518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6C393C-F200-4BCE-B233-9747A19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MACROATLAS  /  운영·개발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14702-D80B-42BA-A0D5-2B83290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사람이 방향을 정하고, 에이전트가 근거를 돕습니다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44F64-36C8-4290-846D-C6AF65B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반복 운영은 작은 단위로 시작하고 실제 결과를 보며 다음 달 계획을 조정합니다.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0E4B9-C21A-489D-AD50-698EF9B1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D3CED-226B-4FA8-A871-707B91C0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기준 2026.10.25  ·  근거: OPERATING_PLAN.md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08F3F-761D-4234-8E18-A47110FE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62748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48E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DA346-CA75-4991-ADDD-0CEDFB9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C4F84-2663-42CD-B2F2-56848A8B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9D643-CAFC-49C9-89D5-6735A46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90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원하는 통계와 우선순위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FB2D0-398C-4281-9B33-BD31939E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5AA03-145C-47F5-95BF-A33B214E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운용자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A74D6-7B7A-424E-B071-7F18BCC5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키·네트워크·호출 예산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0FE02-1CFD-4929-983E-D8CDFB31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22041-E4C4-476F-AF38-F9970E8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8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86F"/>
                </a:solidFill>
                <a:latin typeface="Arial"/>
                <a:ea typeface="Arial"/>
                <a:cs typeface="Arial"/>
              </a:rPr>
              <a:t>개발자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09AFE-8606-4F77-8FC4-AF468B5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99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connector·fixture·회귀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60E41-FAAB-45A9-AF1A-1086AE84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FB971-A2A1-421C-B784-55C81A1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에이전트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CB316-A8D7-4E85-8EFE-0823BDB7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지시 정리·근거 설명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D0770-D2A5-4F9E-83F9-10A7CD01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17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B"/>
                </a:solidFill>
                <a:latin typeface="Arial"/>
                <a:ea typeface="Arial"/>
                <a:cs typeface="Arial"/>
              </a:rPr>
              <a:t>첫 4주 권장 흐름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D8DC8-6579-439D-9A50-2EEF6B83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76475"/>
            <a:ext cx="5429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46599-8A4C-403E-8392-B58AB68E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90775"/>
            <a:ext cx="506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1주차  피드백 정리 · 다음 기관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E0BDA-C907-4E42-85A5-0071CDB0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5429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75B64-31DC-47AE-8645-01F6A0C3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506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2주차  memory 기준선 · 공식 문서/fixture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FE3BC-285F-4ED3-843A-58D3303B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9975"/>
            <a:ext cx="5429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D8BD6-DE49-40CF-AAA5-A0F05685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506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14158"/>
                </a:solidFill>
                <a:latin typeface="Arial"/>
                <a:ea typeface="Arial"/>
                <a:cs typeface="Arial"/>
              </a:rPr>
              <a:t>3주차  offline E2E · 근거 있는 수정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40386-7287-48A1-AD8E-852552F2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5429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3912D-1F11-42AD-A654-58E92AC1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506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141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158"/>
                </a:solidFill>
                <a:latin typeface="Arial"/>
                <a:ea typeface="Arial"/>
                <a:cs typeface="Arial"/>
              </a:rPr>
              <a:t>4주차  gate 통과 source만 canary 검토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4E310C-2BCE-40F6-A38D-9744A6F1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98488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345B4-EF55-426E-ACAF-E9D0EA90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19750"/>
            <a:ext cx="935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B4D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B4D00"/>
                </a:solidFill>
                <a:latin typeface="Arial"/>
                <a:ea typeface="Arial"/>
                <a:cs typeface="Arial"/>
              </a:rPr>
              <a:t>목표 일정은 약속이 아닙니다. 준비가 덜 된 기관은 보류 이유를 남기고 안전한 단계부터 이어갑니다.</a:t>
            </a:r>
          </a:p>
        </p:txBody>
      </p:sp>
    </p:spTree>
    <p:extLst>
      <p:ext uri="{BB962C8B-B14F-4D97-AF65-F5344CB8AC3E}">
        <p14:creationId xmlns:p14="http://schemas.microsoft.com/office/powerpoint/2010/main" val="1877828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2026-10-25T04:28:58.7610000Z</dcterms:created>
  <dcterms:modified xsi:type="dcterms:W3CDTF">2026-10-25T04:28:58.7610000Z</dcterms:modified>
</coreProperties>
</file>